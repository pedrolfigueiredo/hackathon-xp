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oboto Bold" charset="1" panose="02000000000000000000"/>
      <p:regular r:id="rId17"/>
    </p:embeddedFont>
    <p:embeddedFont>
      <p:font typeface="Roboto" charset="1" panose="02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25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Abrir com a frase de impacto. Pergunta para a banca: qual foi a última vez que um gerente lembrou do aniversário do seu filho? É isso que diferencia um assessor bom de um assessor que o cliente não troca. Fonte do 18,4 mil: release do 2T26 da XP.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Pontos 1 e 2. O problema: a informação pessoal que o cliente compartilha é o que sustenta o relacionamento, e ela não fica registrada. Quem é impactado: o assessor, que depende da memória; o cliente, que precisa se repetir; e o escritório, que perde o histórico quando a carteira troca de mãos.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Ponto 3. O ponto forte: a XP já tem a transcrição, então o dado existe. O que falta é transformar aquele texto corrido em informação útil. Hoje ele fica arquivado e ninguém relê antes da próxima reunião. A gente não cria um processo novo, aproveita o que já é gerado.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Pontos 4 e 5. A solução em uma frase: pegar a transcrição que já existe e transformar em memória do cliente. O assessor não muda nada na reunião e não precisa aprovar nada: o perfil se atualiza sozinho. A jornada tem três momentos: antes abre o perfil, durante conversa normalmente, depois já está tudo lá. Se tiver demo, é aqui: cola uma transcrição e abre o perfil atualizado.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Ponto 6. Três públicos, três ganhos. Para o assessor, tempo e preparo. Para o cliente, a sensação de ser lembrado. Para o escritório e a XP, o histórico deixa de depender de uma pessoa, o que importa muito numa rede onde carteiras mudam de mãos.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Ponto 7. Ser honesto aqui ganha a banca: no MVP o texto vai para a API da OpenAI, por isso a demo usa só dados fictícios. A análise está isolada, então trocar por um LLM open source rodando dentro da XP é trocar uma peça. Como o perfil se atualiza sem aprovação, a rastreabilidade importa: cada fato guarda o trecho de onde veio. Sobre suitability: o sistema não classifica perfil de risco, isso continua sendo do questionário regulado. Mascarar CPF e número de conta antes do envio está no roadmap.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Ponto 8. Três passos: primeiro um piloto seguro com um escritório, depois trocar a API externa por um LLM open source rodando dentro da XP, o que protege o dado do cliente e reduz o custo por análise, e por fim escala com app no celular e alertas proativos. Fechar com a frase da faixa: cliente lembrado é cliente que fica.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Quinze segundos aqui, no máximo. Trocar os círculos por fotos de rosto e preencher nome, cargo e histórico de cada um. Se o time tiver três pessoas, apaguem um card.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E3A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E3A39">
                    <a:alpha val="100000"/>
                  </a:srgbClr>
                </a:gs>
                <a:gs pos="60000">
                  <a:srgbClr val="165857">
                    <a:alpha val="100000"/>
                  </a:srgbClr>
                </a:gs>
                <a:gs pos="100000">
                  <a:srgbClr val="1C6E6C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938918" y="0"/>
            <a:ext cx="10221163" cy="10287000"/>
            <a:chOff x="0" y="0"/>
            <a:chExt cx="13628218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62824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628243">
                  <a:moveTo>
                    <a:pt x="0" y="0"/>
                  </a:moveTo>
                  <a:lnTo>
                    <a:pt x="13628243" y="0"/>
                  </a:lnTo>
                  <a:lnTo>
                    <a:pt x="13628243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2C8BB">
                    <a:alpha val="35000"/>
                  </a:srgbClr>
                </a:gs>
                <a:gs pos="100000">
                  <a:srgbClr val="165857">
                    <a:alpha val="35000"/>
                  </a:srgbClr>
                </a:gs>
              </a:gsLst>
              <a:lin ang="4200000"/>
            </a:gra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19200" y="2229004"/>
            <a:ext cx="16325088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b="true" sz="3999" spc="499">
                <a:solidFill>
                  <a:srgbClr val="02C8BB"/>
                </a:solidFill>
                <a:latin typeface="Roboto Bold"/>
                <a:ea typeface="Roboto Bold"/>
                <a:cs typeface="Roboto Bold"/>
                <a:sym typeface="Roboto Bold"/>
              </a:rPr>
              <a:t>XP Insight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9200" y="3232313"/>
            <a:ext cx="12753975" cy="339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80"/>
              </a:lnSpc>
            </a:pPr>
            <a:r>
              <a:rPr lang="en-US" sz="9000" b="true">
                <a:solidFill>
                  <a:srgbClr val="F4FAF9"/>
                </a:solidFill>
                <a:latin typeface="Roboto Bold"/>
                <a:ea typeface="Roboto Bold"/>
                <a:cs typeface="Roboto Bold"/>
                <a:sym typeface="Roboto Bold"/>
              </a:rPr>
              <a:t>O assessor nunca mais esquece o que importa para o cliente.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9200" y="7173655"/>
            <a:ext cx="117729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BFE3DF"/>
                </a:solidFill>
                <a:latin typeface="Roboto"/>
                <a:ea typeface="Roboto"/>
                <a:cs typeface="Roboto"/>
                <a:sym typeface="Roboto"/>
              </a:rPr>
              <a:t>A conversa vira perfil, datas e próximos passos. Sozinha.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71575"/>
            <a:ext cx="1632508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 spc="225">
                <a:solidFill>
                  <a:srgbClr val="0B8F86"/>
                </a:solidFill>
                <a:latin typeface="Roboto Bold"/>
                <a:ea typeface="Roboto Bold"/>
                <a:cs typeface="Roboto Bold"/>
                <a:sym typeface="Roboto Bold"/>
              </a:rPr>
              <a:t>O PROBLEMA E QUEM SENTE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792605"/>
            <a:ext cx="16325088" cy="7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O relacionamento mora na cabeça do assessor.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3108960"/>
            <a:ext cx="7495346" cy="5654040"/>
            <a:chOff x="0" y="0"/>
            <a:chExt cx="9993795" cy="75387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93757" cy="7538720"/>
            </a:xfrm>
            <a:custGeom>
              <a:avLst/>
              <a:gdLst/>
              <a:ahLst/>
              <a:cxnLst/>
              <a:rect r="r" b="b" t="t" l="l"/>
              <a:pathLst>
                <a:path h="7538720" w="9993757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9739757" y="0"/>
                  </a:lnTo>
                  <a:cubicBezTo>
                    <a:pt x="9879964" y="0"/>
                    <a:pt x="9993757" y="113665"/>
                    <a:pt x="9993757" y="254000"/>
                  </a:cubicBezTo>
                  <a:lnTo>
                    <a:pt x="9993757" y="7284720"/>
                  </a:lnTo>
                  <a:cubicBezTo>
                    <a:pt x="9993757" y="7424927"/>
                    <a:pt x="9880092" y="7538720"/>
                    <a:pt x="9739757" y="7538720"/>
                  </a:cubicBezTo>
                  <a:lnTo>
                    <a:pt x="254000" y="7538720"/>
                  </a:lnTo>
                  <a:cubicBezTo>
                    <a:pt x="113792" y="7538720"/>
                    <a:pt x="0" y="7425055"/>
                    <a:pt x="0" y="7284720"/>
                  </a:cubicBezTo>
                  <a:close/>
                </a:path>
              </a:pathLst>
            </a:custGeom>
            <a:solidFill>
              <a:srgbClr val="16585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76400" y="3566160"/>
            <a:ext cx="685800" cy="685800"/>
            <a:chOff x="0" y="0"/>
            <a:chExt cx="914400" cy="914400"/>
          </a:xfrm>
        </p:grpSpPr>
        <p:sp>
          <p:nvSpPr>
            <p:cNvPr name="Freeform 7" id="7" descr="Chat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76400" y="5353050"/>
            <a:ext cx="6778371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00" b="true">
                <a:solidFill>
                  <a:srgbClr val="F4FAF9"/>
                </a:solidFill>
                <a:latin typeface="Roboto Bold"/>
                <a:ea typeface="Roboto Bold"/>
                <a:cs typeface="Roboto Bold"/>
                <a:sym typeface="Roboto Bold"/>
              </a:rPr>
              <a:t>O que o cliente conta na reunião se perde antes da próxima.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76400" y="7511415"/>
            <a:ext cx="6778371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BFE3DF"/>
                </a:solidFill>
                <a:latin typeface="Roboto"/>
                <a:ea typeface="Roboto"/>
                <a:cs typeface="Roboto"/>
                <a:sym typeface="Roboto"/>
              </a:rPr>
              <a:t>Família, planos, medos com dinheiro. É o que faz o cliente ficar, e não fica registrado em lugar nenhum.</a:t>
            </a:r>
          </a:p>
        </p:txBody>
      </p:sp>
      <p:sp>
        <p:nvSpPr>
          <p:cNvPr name="AutoShape 10" id="10"/>
          <p:cNvSpPr/>
          <p:nvPr/>
        </p:nvSpPr>
        <p:spPr>
          <a:xfrm rot="8280">
            <a:off x="9162202" y="4725353"/>
            <a:ext cx="7916132" cy="0"/>
          </a:xfrm>
          <a:prstGeom prst="line">
            <a:avLst/>
          </a:prstGeom>
          <a:ln cap="rnd" w="9525">
            <a:solidFill>
              <a:srgbClr val="D3E2E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9171746" y="3497580"/>
            <a:ext cx="838200" cy="838200"/>
            <a:chOff x="0" y="0"/>
            <a:chExt cx="1117600" cy="1117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17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17600">
                  <a:moveTo>
                    <a:pt x="0" y="558800"/>
                  </a:moveTo>
                  <a:cubicBezTo>
                    <a:pt x="0" y="250190"/>
                    <a:pt x="250190" y="0"/>
                    <a:pt x="558800" y="0"/>
                  </a:cubicBezTo>
                  <a:cubicBezTo>
                    <a:pt x="867410" y="0"/>
                    <a:pt x="1117600" y="250190"/>
                    <a:pt x="1117600" y="558800"/>
                  </a:cubicBezTo>
                  <a:cubicBezTo>
                    <a:pt x="1117600" y="867410"/>
                    <a:pt x="867410" y="1117600"/>
                    <a:pt x="558800" y="1117600"/>
                  </a:cubicBezTo>
                  <a:cubicBezTo>
                    <a:pt x="250190" y="1117600"/>
                    <a:pt x="0" y="867410"/>
                    <a:pt x="0" y="558800"/>
                  </a:cubicBezTo>
                  <a:close/>
                </a:path>
              </a:pathLst>
            </a:custGeom>
            <a:solidFill>
              <a:srgbClr val="E6F7F5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362246" y="3688080"/>
            <a:ext cx="457200" cy="457200"/>
            <a:chOff x="0" y="0"/>
            <a:chExt cx="609600" cy="609600"/>
          </a:xfrm>
        </p:grpSpPr>
        <p:sp>
          <p:nvSpPr>
            <p:cNvPr name="Freeform 14" id="14" descr="Users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314737" y="3289935"/>
            <a:ext cx="6956679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Assessor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14737" y="3739515"/>
            <a:ext cx="6956679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A5856"/>
                </a:solidFill>
                <a:latin typeface="Roboto"/>
                <a:ea typeface="Roboto"/>
                <a:cs typeface="Roboto"/>
                <a:sym typeface="Roboto"/>
              </a:rPr>
              <a:t>Muitos clientes, pouco tempo. Depende da própria memória.</a:t>
            </a:r>
          </a:p>
        </p:txBody>
      </p:sp>
      <p:sp>
        <p:nvSpPr>
          <p:cNvPr name="AutoShape 17" id="17"/>
          <p:cNvSpPr/>
          <p:nvPr/>
        </p:nvSpPr>
        <p:spPr>
          <a:xfrm rot="8280">
            <a:off x="9162202" y="6356032"/>
            <a:ext cx="7916132" cy="0"/>
          </a:xfrm>
          <a:prstGeom prst="line">
            <a:avLst/>
          </a:prstGeom>
          <a:ln cap="rnd" w="9525">
            <a:solidFill>
              <a:srgbClr val="D3E2E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9171746" y="5128260"/>
            <a:ext cx="838200" cy="838200"/>
            <a:chOff x="0" y="0"/>
            <a:chExt cx="1117600" cy="1117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17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17600">
                  <a:moveTo>
                    <a:pt x="0" y="558800"/>
                  </a:moveTo>
                  <a:cubicBezTo>
                    <a:pt x="0" y="250190"/>
                    <a:pt x="250190" y="0"/>
                    <a:pt x="558800" y="0"/>
                  </a:cubicBezTo>
                  <a:cubicBezTo>
                    <a:pt x="867410" y="0"/>
                    <a:pt x="1117600" y="250190"/>
                    <a:pt x="1117600" y="558800"/>
                  </a:cubicBezTo>
                  <a:cubicBezTo>
                    <a:pt x="1117600" y="867410"/>
                    <a:pt x="867410" y="1117600"/>
                    <a:pt x="558800" y="1117600"/>
                  </a:cubicBezTo>
                  <a:cubicBezTo>
                    <a:pt x="250190" y="1117600"/>
                    <a:pt x="0" y="867410"/>
                    <a:pt x="0" y="558800"/>
                  </a:cubicBezTo>
                  <a:close/>
                </a:path>
              </a:pathLst>
            </a:custGeom>
            <a:solidFill>
              <a:srgbClr val="E6F7F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362246" y="5318760"/>
            <a:ext cx="457200" cy="457200"/>
            <a:chOff x="0" y="0"/>
            <a:chExt cx="609600" cy="609600"/>
          </a:xfrm>
        </p:grpSpPr>
        <p:sp>
          <p:nvSpPr>
            <p:cNvPr name="Freeform 21" id="21" descr="Star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314737" y="4920615"/>
            <a:ext cx="6956679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Cliente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14737" y="5370195"/>
            <a:ext cx="6956679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A5856"/>
                </a:solidFill>
                <a:latin typeface="Roboto"/>
                <a:ea typeface="Roboto"/>
                <a:cs typeface="Roboto"/>
                <a:sym typeface="Roboto"/>
              </a:rPr>
              <a:t>Repete a própria história e sente que é só mais um na carteira.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171746" y="6572250"/>
            <a:ext cx="838200" cy="838200"/>
            <a:chOff x="0" y="0"/>
            <a:chExt cx="1117600" cy="1117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17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17600">
                  <a:moveTo>
                    <a:pt x="0" y="558800"/>
                  </a:moveTo>
                  <a:cubicBezTo>
                    <a:pt x="0" y="250190"/>
                    <a:pt x="250190" y="0"/>
                    <a:pt x="558800" y="0"/>
                  </a:cubicBezTo>
                  <a:cubicBezTo>
                    <a:pt x="867410" y="0"/>
                    <a:pt x="1117600" y="250190"/>
                    <a:pt x="1117600" y="558800"/>
                  </a:cubicBezTo>
                  <a:cubicBezTo>
                    <a:pt x="1117600" y="867410"/>
                    <a:pt x="867410" y="1117600"/>
                    <a:pt x="558800" y="1117600"/>
                  </a:cubicBezTo>
                  <a:cubicBezTo>
                    <a:pt x="250190" y="1117600"/>
                    <a:pt x="0" y="867410"/>
                    <a:pt x="0" y="558800"/>
                  </a:cubicBezTo>
                  <a:close/>
                </a:path>
              </a:pathLst>
            </a:custGeom>
            <a:solidFill>
              <a:srgbClr val="E6F7F5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362246" y="6762750"/>
            <a:ext cx="457200" cy="457200"/>
            <a:chOff x="0" y="0"/>
            <a:chExt cx="609600" cy="609600"/>
          </a:xfrm>
        </p:grpSpPr>
        <p:sp>
          <p:nvSpPr>
            <p:cNvPr name="Freeform 27" id="27" descr="Home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314737" y="6551295"/>
            <a:ext cx="6956679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Escritório e XP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314737" y="7000875"/>
            <a:ext cx="6956679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A5856"/>
                </a:solidFill>
                <a:latin typeface="Roboto"/>
                <a:ea typeface="Roboto"/>
                <a:cs typeface="Roboto"/>
                <a:sym typeface="Roboto"/>
              </a:rPr>
              <a:t>Quando o assessor sai, o histórico do cliente vai junto.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9200" y="9309735"/>
            <a:ext cx="39243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7A78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71575"/>
            <a:ext cx="1632508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 spc="225">
                <a:solidFill>
                  <a:srgbClr val="0B8F86"/>
                </a:solidFill>
                <a:latin typeface="Roboto Bold"/>
                <a:ea typeface="Roboto Bold"/>
                <a:cs typeface="Roboto Bold"/>
                <a:sym typeface="Roboto Bold"/>
              </a:rPr>
              <a:t>COMO FUNCIONA HOJE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792605"/>
            <a:ext cx="10098881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A transcrição existe, ninguém lê.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3108960"/>
            <a:ext cx="3390900" cy="3253740"/>
            <a:chOff x="0" y="0"/>
            <a:chExt cx="4521200" cy="4338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21200" cy="4338320"/>
            </a:xfrm>
            <a:custGeom>
              <a:avLst/>
              <a:gdLst/>
              <a:ahLst/>
              <a:cxnLst/>
              <a:rect r="r" b="b" t="t" l="l"/>
              <a:pathLst>
                <a:path h="4338320" w="4521200">
                  <a:moveTo>
                    <a:pt x="0" y="191643"/>
                  </a:moveTo>
                  <a:cubicBezTo>
                    <a:pt x="0" y="85852"/>
                    <a:pt x="85852" y="0"/>
                    <a:pt x="191643" y="0"/>
                  </a:cubicBezTo>
                  <a:lnTo>
                    <a:pt x="4329557" y="0"/>
                  </a:lnTo>
                  <a:cubicBezTo>
                    <a:pt x="4435348" y="0"/>
                    <a:pt x="4521200" y="85852"/>
                    <a:pt x="4521200" y="191643"/>
                  </a:cubicBezTo>
                  <a:lnTo>
                    <a:pt x="4521200" y="4146677"/>
                  </a:lnTo>
                  <a:cubicBezTo>
                    <a:pt x="4521200" y="4252468"/>
                    <a:pt x="4435348" y="4338320"/>
                    <a:pt x="4329557" y="4338320"/>
                  </a:cubicBezTo>
                  <a:lnTo>
                    <a:pt x="191643" y="4338320"/>
                  </a:lnTo>
                  <a:cubicBezTo>
                    <a:pt x="85852" y="4338320"/>
                    <a:pt x="0" y="4252468"/>
                    <a:pt x="0" y="414667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2E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577340" y="3390900"/>
            <a:ext cx="2754859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5FB3AC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7340" y="4196715"/>
            <a:ext cx="2754859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Reunião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77340" y="4676775"/>
            <a:ext cx="2754859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A5856"/>
                </a:solidFill>
                <a:latin typeface="Roboto"/>
                <a:ea typeface="Roboto"/>
                <a:cs typeface="Roboto"/>
                <a:sym typeface="Roboto"/>
              </a:rPr>
              <a:t>Assessor e cliente conversam por chamada ou presencialmente.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762500" y="4602480"/>
            <a:ext cx="457200" cy="266700"/>
            <a:chOff x="0" y="0"/>
            <a:chExt cx="609600" cy="355600"/>
          </a:xfrm>
        </p:grpSpPr>
        <p:sp>
          <p:nvSpPr>
            <p:cNvPr name="Freeform 10" id="10" descr="arrow-right"/>
            <p:cNvSpPr/>
            <p:nvPr/>
          </p:nvSpPr>
          <p:spPr>
            <a:xfrm flipH="false" flipV="false" rot="0">
              <a:off x="0" y="0"/>
              <a:ext cx="609600" cy="355600"/>
            </a:xfrm>
            <a:custGeom>
              <a:avLst/>
              <a:gdLst/>
              <a:ahLst/>
              <a:cxnLst/>
              <a:rect r="r" b="b" t="t" l="l"/>
              <a:pathLst>
                <a:path h="355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72100" y="3108960"/>
            <a:ext cx="3390900" cy="3253740"/>
            <a:chOff x="0" y="0"/>
            <a:chExt cx="4521200" cy="4338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21200" cy="4338320"/>
            </a:xfrm>
            <a:custGeom>
              <a:avLst/>
              <a:gdLst/>
              <a:ahLst/>
              <a:cxnLst/>
              <a:rect r="r" b="b" t="t" l="l"/>
              <a:pathLst>
                <a:path h="4338320" w="4521200">
                  <a:moveTo>
                    <a:pt x="0" y="191643"/>
                  </a:moveTo>
                  <a:cubicBezTo>
                    <a:pt x="0" y="85852"/>
                    <a:pt x="85852" y="0"/>
                    <a:pt x="191643" y="0"/>
                  </a:cubicBezTo>
                  <a:lnTo>
                    <a:pt x="4329557" y="0"/>
                  </a:lnTo>
                  <a:cubicBezTo>
                    <a:pt x="4435348" y="0"/>
                    <a:pt x="4521200" y="85852"/>
                    <a:pt x="4521200" y="191643"/>
                  </a:cubicBezTo>
                  <a:lnTo>
                    <a:pt x="4521200" y="4146677"/>
                  </a:lnTo>
                  <a:cubicBezTo>
                    <a:pt x="4521200" y="4252468"/>
                    <a:pt x="4435348" y="4338320"/>
                    <a:pt x="4329557" y="4338320"/>
                  </a:cubicBezTo>
                  <a:lnTo>
                    <a:pt x="191643" y="4338320"/>
                  </a:lnTo>
                  <a:cubicBezTo>
                    <a:pt x="85852" y="4338320"/>
                    <a:pt x="0" y="4252468"/>
                    <a:pt x="0" y="414667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2E0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5730240" y="3390900"/>
            <a:ext cx="2754859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5FB3AC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730240" y="4196715"/>
            <a:ext cx="2754859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Transcrição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30240" y="4676775"/>
            <a:ext cx="2754859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A5856"/>
                </a:solidFill>
                <a:latin typeface="Roboto"/>
                <a:ea typeface="Roboto"/>
                <a:cs typeface="Roboto"/>
                <a:sym typeface="Roboto"/>
              </a:rPr>
              <a:t>A conversa já é transcrita. Essa parte funciona.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915400" y="4602480"/>
            <a:ext cx="457200" cy="266700"/>
            <a:chOff x="0" y="0"/>
            <a:chExt cx="609600" cy="355600"/>
          </a:xfrm>
        </p:grpSpPr>
        <p:sp>
          <p:nvSpPr>
            <p:cNvPr name="Freeform 17" id="17" descr="arrow-right"/>
            <p:cNvSpPr/>
            <p:nvPr/>
          </p:nvSpPr>
          <p:spPr>
            <a:xfrm flipH="false" flipV="false" rot="0">
              <a:off x="0" y="0"/>
              <a:ext cx="609600" cy="355600"/>
            </a:xfrm>
            <a:custGeom>
              <a:avLst/>
              <a:gdLst/>
              <a:ahLst/>
              <a:cxnLst/>
              <a:rect r="r" b="b" t="t" l="l"/>
              <a:pathLst>
                <a:path h="355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525000" y="3108960"/>
            <a:ext cx="3390900" cy="3253740"/>
            <a:chOff x="0" y="0"/>
            <a:chExt cx="4521200" cy="43383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21200" cy="4338320"/>
            </a:xfrm>
            <a:custGeom>
              <a:avLst/>
              <a:gdLst/>
              <a:ahLst/>
              <a:cxnLst/>
              <a:rect r="r" b="b" t="t" l="l"/>
              <a:pathLst>
                <a:path h="4338320" w="4521200">
                  <a:moveTo>
                    <a:pt x="0" y="191643"/>
                  </a:moveTo>
                  <a:cubicBezTo>
                    <a:pt x="0" y="85852"/>
                    <a:pt x="85852" y="0"/>
                    <a:pt x="191643" y="0"/>
                  </a:cubicBezTo>
                  <a:lnTo>
                    <a:pt x="4329557" y="0"/>
                  </a:lnTo>
                  <a:cubicBezTo>
                    <a:pt x="4435348" y="0"/>
                    <a:pt x="4521200" y="85852"/>
                    <a:pt x="4521200" y="191643"/>
                  </a:cubicBezTo>
                  <a:lnTo>
                    <a:pt x="4521200" y="4146677"/>
                  </a:lnTo>
                  <a:cubicBezTo>
                    <a:pt x="4521200" y="4252468"/>
                    <a:pt x="4435348" y="4338320"/>
                    <a:pt x="4329557" y="4338320"/>
                  </a:cubicBezTo>
                  <a:lnTo>
                    <a:pt x="191643" y="4338320"/>
                  </a:lnTo>
                  <a:cubicBezTo>
                    <a:pt x="85852" y="4338320"/>
                    <a:pt x="0" y="4252468"/>
                    <a:pt x="0" y="414667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5560F"/>
              </a:solidFill>
              <a:prstDash val="dash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9883140" y="3390900"/>
            <a:ext cx="2754859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B5560F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83140" y="4196715"/>
            <a:ext cx="2754859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Texto parado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83140" y="4676775"/>
            <a:ext cx="2754859" cy="136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A5856"/>
                </a:solidFill>
                <a:latin typeface="Roboto"/>
                <a:ea typeface="Roboto"/>
                <a:cs typeface="Roboto"/>
                <a:sym typeface="Roboto"/>
              </a:rPr>
              <a:t>Páginas de texto corrido arquivadas. Ninguém relê antes da próxima conversa.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068300" y="4602480"/>
            <a:ext cx="457200" cy="266700"/>
            <a:chOff x="0" y="0"/>
            <a:chExt cx="609600" cy="355600"/>
          </a:xfrm>
        </p:grpSpPr>
        <p:sp>
          <p:nvSpPr>
            <p:cNvPr name="Freeform 24" id="24" descr="arrow-right"/>
            <p:cNvSpPr/>
            <p:nvPr/>
          </p:nvSpPr>
          <p:spPr>
            <a:xfrm flipH="false" flipV="false" rot="0">
              <a:off x="0" y="0"/>
              <a:ext cx="609600" cy="355600"/>
            </a:xfrm>
            <a:custGeom>
              <a:avLst/>
              <a:gdLst/>
              <a:ahLst/>
              <a:cxnLst/>
              <a:rect r="r" b="b" t="t" l="l"/>
              <a:pathLst>
                <a:path h="355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677900" y="3108960"/>
            <a:ext cx="3390900" cy="3253740"/>
            <a:chOff x="0" y="0"/>
            <a:chExt cx="4521200" cy="43383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21200" cy="4338320"/>
            </a:xfrm>
            <a:custGeom>
              <a:avLst/>
              <a:gdLst/>
              <a:ahLst/>
              <a:cxnLst/>
              <a:rect r="r" b="b" t="t" l="l"/>
              <a:pathLst>
                <a:path h="4338320" w="4521200">
                  <a:moveTo>
                    <a:pt x="0" y="191643"/>
                  </a:moveTo>
                  <a:cubicBezTo>
                    <a:pt x="0" y="85852"/>
                    <a:pt x="85852" y="0"/>
                    <a:pt x="191643" y="0"/>
                  </a:cubicBezTo>
                  <a:lnTo>
                    <a:pt x="4329557" y="0"/>
                  </a:lnTo>
                  <a:cubicBezTo>
                    <a:pt x="4435348" y="0"/>
                    <a:pt x="4521200" y="85852"/>
                    <a:pt x="4521200" y="191643"/>
                  </a:cubicBezTo>
                  <a:lnTo>
                    <a:pt x="4521200" y="4146677"/>
                  </a:lnTo>
                  <a:cubicBezTo>
                    <a:pt x="4521200" y="4252468"/>
                    <a:pt x="4435348" y="4338320"/>
                    <a:pt x="4329557" y="4338320"/>
                  </a:cubicBezTo>
                  <a:lnTo>
                    <a:pt x="191643" y="4338320"/>
                  </a:lnTo>
                  <a:cubicBezTo>
                    <a:pt x="85852" y="4338320"/>
                    <a:pt x="0" y="4252468"/>
                    <a:pt x="0" y="414667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2E0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4036040" y="3390900"/>
            <a:ext cx="2754859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5FB3AC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036040" y="4196715"/>
            <a:ext cx="2754859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Próxima reunião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036040" y="4676775"/>
            <a:ext cx="2754859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A5856"/>
                </a:solidFill>
                <a:latin typeface="Roboto"/>
                <a:ea typeface="Roboto"/>
                <a:cs typeface="Roboto"/>
                <a:sym typeface="Roboto"/>
              </a:rPr>
              <a:t>Começa da memória do assessor, não do que foi dito.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19200" y="6972300"/>
            <a:ext cx="5079921" cy="990600"/>
            <a:chOff x="0" y="0"/>
            <a:chExt cx="6773228" cy="1320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773164" cy="1320800"/>
            </a:xfrm>
            <a:custGeom>
              <a:avLst/>
              <a:gdLst/>
              <a:ahLst/>
              <a:cxnLst/>
              <a:rect r="r" b="b" t="t" l="l"/>
              <a:pathLst>
                <a:path h="1320800" w="6773164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6569964" y="0"/>
                  </a:lnTo>
                  <a:cubicBezTo>
                    <a:pt x="6682232" y="0"/>
                    <a:pt x="6773164" y="90932"/>
                    <a:pt x="6773164" y="203200"/>
                  </a:cubicBezTo>
                  <a:lnTo>
                    <a:pt x="6773164" y="1117600"/>
                  </a:lnTo>
                  <a:cubicBezTo>
                    <a:pt x="6773164" y="1229868"/>
                    <a:pt x="6682232" y="1320800"/>
                    <a:pt x="6569964" y="1320800"/>
                  </a:cubicBezTo>
                  <a:lnTo>
                    <a:pt x="203200" y="1320800"/>
                  </a:lnTo>
                  <a:cubicBezTo>
                    <a:pt x="90932" y="1320800"/>
                    <a:pt x="0" y="1229868"/>
                    <a:pt x="0" y="1117600"/>
                  </a:cubicBezTo>
                  <a:close/>
                </a:path>
              </a:pathLst>
            </a:custGeom>
            <a:solidFill>
              <a:srgbClr val="FDF1E4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524000" y="7239000"/>
            <a:ext cx="457200" cy="457200"/>
            <a:chOff x="0" y="0"/>
            <a:chExt cx="609600" cy="609600"/>
          </a:xfrm>
        </p:grpSpPr>
        <p:sp>
          <p:nvSpPr>
            <p:cNvPr name="Freeform 33" id="33" descr="Warni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2171700" y="7249478"/>
            <a:ext cx="4127421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5A2E08"/>
                </a:solidFill>
                <a:latin typeface="Roboto"/>
                <a:ea typeface="Roboto"/>
                <a:cs typeface="Roboto"/>
                <a:sym typeface="Roboto"/>
              </a:rPr>
              <a:t>Texto longo demais para reler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603921" y="6972300"/>
            <a:ext cx="5080035" cy="990600"/>
            <a:chOff x="0" y="0"/>
            <a:chExt cx="6773380" cy="1320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773418" cy="1320800"/>
            </a:xfrm>
            <a:custGeom>
              <a:avLst/>
              <a:gdLst/>
              <a:ahLst/>
              <a:cxnLst/>
              <a:rect r="r" b="b" t="t" l="l"/>
              <a:pathLst>
                <a:path h="1320800" w="6773418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6570218" y="0"/>
                  </a:lnTo>
                  <a:cubicBezTo>
                    <a:pt x="6682487" y="0"/>
                    <a:pt x="6773418" y="90932"/>
                    <a:pt x="6773418" y="203200"/>
                  </a:cubicBezTo>
                  <a:lnTo>
                    <a:pt x="6773418" y="1117600"/>
                  </a:lnTo>
                  <a:cubicBezTo>
                    <a:pt x="6773418" y="1229868"/>
                    <a:pt x="6682487" y="1320800"/>
                    <a:pt x="6570218" y="1320800"/>
                  </a:cubicBezTo>
                  <a:lnTo>
                    <a:pt x="203200" y="1320800"/>
                  </a:lnTo>
                  <a:cubicBezTo>
                    <a:pt x="90932" y="1320800"/>
                    <a:pt x="0" y="1229868"/>
                    <a:pt x="0" y="1117600"/>
                  </a:cubicBezTo>
                  <a:close/>
                </a:path>
              </a:pathLst>
            </a:custGeom>
            <a:solidFill>
              <a:srgbClr val="FDF1E4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908721" y="7239000"/>
            <a:ext cx="457200" cy="457200"/>
            <a:chOff x="0" y="0"/>
            <a:chExt cx="609600" cy="609600"/>
          </a:xfrm>
        </p:grpSpPr>
        <p:sp>
          <p:nvSpPr>
            <p:cNvPr name="Freeform 38" id="38" descr="Warni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7556421" y="7249478"/>
            <a:ext cx="4127535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5A2E08"/>
                </a:solidFill>
                <a:latin typeface="Roboto"/>
                <a:ea typeface="Roboto"/>
                <a:cs typeface="Roboto"/>
                <a:sym typeface="Roboto"/>
              </a:rPr>
              <a:t>Fatos importantes soterrados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1988765" y="6972300"/>
            <a:ext cx="5080035" cy="990600"/>
            <a:chOff x="0" y="0"/>
            <a:chExt cx="6773380" cy="1320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773418" cy="1320800"/>
            </a:xfrm>
            <a:custGeom>
              <a:avLst/>
              <a:gdLst/>
              <a:ahLst/>
              <a:cxnLst/>
              <a:rect r="r" b="b" t="t" l="l"/>
              <a:pathLst>
                <a:path h="1320800" w="6773418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6570218" y="0"/>
                  </a:lnTo>
                  <a:cubicBezTo>
                    <a:pt x="6682487" y="0"/>
                    <a:pt x="6773418" y="90932"/>
                    <a:pt x="6773418" y="203200"/>
                  </a:cubicBezTo>
                  <a:lnTo>
                    <a:pt x="6773418" y="1117600"/>
                  </a:lnTo>
                  <a:cubicBezTo>
                    <a:pt x="6773418" y="1229868"/>
                    <a:pt x="6682487" y="1320800"/>
                    <a:pt x="6570218" y="1320800"/>
                  </a:cubicBezTo>
                  <a:lnTo>
                    <a:pt x="203200" y="1320800"/>
                  </a:lnTo>
                  <a:cubicBezTo>
                    <a:pt x="90932" y="1320800"/>
                    <a:pt x="0" y="1229868"/>
                    <a:pt x="0" y="1117600"/>
                  </a:cubicBezTo>
                  <a:close/>
                </a:path>
              </a:pathLst>
            </a:custGeom>
            <a:solidFill>
              <a:srgbClr val="FDF1E4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293565" y="7239000"/>
            <a:ext cx="457200" cy="457200"/>
            <a:chOff x="0" y="0"/>
            <a:chExt cx="609600" cy="609600"/>
          </a:xfrm>
        </p:grpSpPr>
        <p:sp>
          <p:nvSpPr>
            <p:cNvPr name="Freeform 43" id="43" descr="Warni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2941265" y="7249478"/>
            <a:ext cx="4127535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5A2E08"/>
                </a:solidFill>
                <a:latin typeface="Roboto"/>
                <a:ea typeface="Roboto"/>
                <a:cs typeface="Roboto"/>
                <a:sym typeface="Roboto"/>
              </a:rPr>
              <a:t>Datas e promessas esquecidas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19200" y="9309735"/>
            <a:ext cx="39243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7A78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71575"/>
            <a:ext cx="1632508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 spc="225">
                <a:solidFill>
                  <a:srgbClr val="0B8F86"/>
                </a:solidFill>
                <a:latin typeface="Roboto Bold"/>
                <a:ea typeface="Roboto Bold"/>
                <a:cs typeface="Roboto Bold"/>
                <a:sym typeface="Roboto Bold"/>
              </a:rPr>
              <a:t>A SOLUÇÃO E COMO O ASSESSOR USA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792605"/>
            <a:ext cx="11880056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A transcrição entra, o perfil sai pronto.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2956560"/>
            <a:ext cx="2827020" cy="579120"/>
            <a:chOff x="0" y="0"/>
            <a:chExt cx="3769360" cy="772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69360" cy="772160"/>
            </a:xfrm>
            <a:custGeom>
              <a:avLst/>
              <a:gdLst/>
              <a:ahLst/>
              <a:cxnLst/>
              <a:rect r="r" b="b" t="t" l="l"/>
              <a:pathLst>
                <a:path h="772160" w="3769360">
                  <a:moveTo>
                    <a:pt x="0" y="386080"/>
                  </a:moveTo>
                  <a:cubicBezTo>
                    <a:pt x="0" y="172847"/>
                    <a:pt x="172847" y="0"/>
                    <a:pt x="386080" y="0"/>
                  </a:cubicBezTo>
                  <a:lnTo>
                    <a:pt x="3383280" y="0"/>
                  </a:lnTo>
                  <a:cubicBezTo>
                    <a:pt x="3596513" y="0"/>
                    <a:pt x="3769360" y="172847"/>
                    <a:pt x="3769360" y="386080"/>
                  </a:cubicBezTo>
                  <a:cubicBezTo>
                    <a:pt x="3769360" y="599313"/>
                    <a:pt x="3596513" y="772160"/>
                    <a:pt x="3383280" y="772160"/>
                  </a:cubicBezTo>
                  <a:lnTo>
                    <a:pt x="386080" y="772160"/>
                  </a:lnTo>
                  <a:cubicBezTo>
                    <a:pt x="172847" y="772160"/>
                    <a:pt x="0" y="599313"/>
                    <a:pt x="0" y="38608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2E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769360" cy="819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121212"/>
                  </a:solidFill>
                  <a:latin typeface="Roboto"/>
                  <a:ea typeface="Roboto"/>
                  <a:cs typeface="Roboto"/>
                  <a:sym typeface="Roboto"/>
                </a:rPr>
                <a:t>Transcrição da reunião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198620" y="3141345"/>
            <a:ext cx="381000" cy="209550"/>
            <a:chOff x="0" y="0"/>
            <a:chExt cx="508000" cy="279400"/>
          </a:xfrm>
        </p:grpSpPr>
        <p:sp>
          <p:nvSpPr>
            <p:cNvPr name="Freeform 8" id="8" descr="arrow-right"/>
            <p:cNvSpPr/>
            <p:nvPr/>
          </p:nvSpPr>
          <p:spPr>
            <a:xfrm flipH="false" flipV="false" rot="0">
              <a:off x="0" y="0"/>
              <a:ext cx="508000" cy="279400"/>
            </a:xfrm>
            <a:custGeom>
              <a:avLst/>
              <a:gdLst/>
              <a:ahLst/>
              <a:cxnLst/>
              <a:rect r="r" b="b" t="t" l="l"/>
              <a:pathLst>
                <a:path h="2794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279400"/>
                  </a:lnTo>
                  <a:lnTo>
                    <a:pt x="0" y="279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732020" y="2956560"/>
            <a:ext cx="1915363" cy="579120"/>
            <a:chOff x="0" y="0"/>
            <a:chExt cx="2553818" cy="7721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53843" cy="772160"/>
            </a:xfrm>
            <a:custGeom>
              <a:avLst/>
              <a:gdLst/>
              <a:ahLst/>
              <a:cxnLst/>
              <a:rect r="r" b="b" t="t" l="l"/>
              <a:pathLst>
                <a:path h="772160" w="2553843">
                  <a:moveTo>
                    <a:pt x="0" y="386080"/>
                  </a:moveTo>
                  <a:cubicBezTo>
                    <a:pt x="0" y="172847"/>
                    <a:pt x="172847" y="0"/>
                    <a:pt x="386080" y="0"/>
                  </a:cubicBezTo>
                  <a:lnTo>
                    <a:pt x="2167763" y="0"/>
                  </a:lnTo>
                  <a:cubicBezTo>
                    <a:pt x="2380996" y="0"/>
                    <a:pt x="2553843" y="172847"/>
                    <a:pt x="2553843" y="386080"/>
                  </a:cubicBezTo>
                  <a:cubicBezTo>
                    <a:pt x="2553843" y="599313"/>
                    <a:pt x="2380996" y="772160"/>
                    <a:pt x="2167763" y="772160"/>
                  </a:cubicBezTo>
                  <a:lnTo>
                    <a:pt x="386080" y="772160"/>
                  </a:lnTo>
                  <a:cubicBezTo>
                    <a:pt x="172847" y="772160"/>
                    <a:pt x="0" y="599313"/>
                    <a:pt x="0" y="38608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2E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553818" cy="819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121212"/>
                  </a:solidFill>
                  <a:latin typeface="Roboto"/>
                  <a:ea typeface="Roboto"/>
                  <a:cs typeface="Roboto"/>
                  <a:sym typeface="Roboto"/>
                </a:rPr>
                <a:t>Análise por IA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799783" y="3141345"/>
            <a:ext cx="381000" cy="209550"/>
            <a:chOff x="0" y="0"/>
            <a:chExt cx="508000" cy="279400"/>
          </a:xfrm>
        </p:grpSpPr>
        <p:sp>
          <p:nvSpPr>
            <p:cNvPr name="Freeform 13" id="13" descr="arrow-right"/>
            <p:cNvSpPr/>
            <p:nvPr/>
          </p:nvSpPr>
          <p:spPr>
            <a:xfrm flipH="false" flipV="false" rot="0">
              <a:off x="0" y="0"/>
              <a:ext cx="508000" cy="279400"/>
            </a:xfrm>
            <a:custGeom>
              <a:avLst/>
              <a:gdLst/>
              <a:ahLst/>
              <a:cxnLst/>
              <a:rect r="r" b="b" t="t" l="l"/>
              <a:pathLst>
                <a:path h="2794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279400"/>
                  </a:lnTo>
                  <a:lnTo>
                    <a:pt x="0" y="279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333183" y="2971800"/>
            <a:ext cx="3674393" cy="548640"/>
            <a:chOff x="0" y="0"/>
            <a:chExt cx="489919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99152" cy="731520"/>
            </a:xfrm>
            <a:custGeom>
              <a:avLst/>
              <a:gdLst/>
              <a:ahLst/>
              <a:cxnLst/>
              <a:rect r="r" b="b" t="t" l="l"/>
              <a:pathLst>
                <a:path h="731520" w="4899152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4533392" y="0"/>
                  </a:lnTo>
                  <a:cubicBezTo>
                    <a:pt x="4735449" y="0"/>
                    <a:pt x="4899152" y="163703"/>
                    <a:pt x="4899152" y="365760"/>
                  </a:cubicBezTo>
                  <a:cubicBezTo>
                    <a:pt x="4899152" y="567817"/>
                    <a:pt x="4735449" y="731520"/>
                    <a:pt x="4533392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6585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899190" cy="779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4FAF9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Perfil, datas e próximos passos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19200" y="3992880"/>
            <a:ext cx="5029200" cy="4770120"/>
            <a:chOff x="0" y="0"/>
            <a:chExt cx="6705600" cy="6360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05600" cy="6360160"/>
            </a:xfrm>
            <a:custGeom>
              <a:avLst/>
              <a:gdLst/>
              <a:ahLst/>
              <a:cxnLst/>
              <a:rect r="r" b="b" t="t" l="l"/>
              <a:pathLst>
                <a:path h="6360160" w="6705600">
                  <a:moveTo>
                    <a:pt x="0" y="254000"/>
                  </a:moveTo>
                  <a:cubicBezTo>
                    <a:pt x="0" y="113792"/>
                    <a:pt x="113792" y="0"/>
                    <a:pt x="254000" y="0"/>
                  </a:cubicBezTo>
                  <a:lnTo>
                    <a:pt x="6451600" y="0"/>
                  </a:lnTo>
                  <a:cubicBezTo>
                    <a:pt x="6591935" y="0"/>
                    <a:pt x="6705600" y="113792"/>
                    <a:pt x="6705600" y="254000"/>
                  </a:cubicBezTo>
                  <a:lnTo>
                    <a:pt x="6705600" y="6106160"/>
                  </a:lnTo>
                  <a:cubicBezTo>
                    <a:pt x="6705600" y="6246495"/>
                    <a:pt x="6591808" y="6360160"/>
                    <a:pt x="6451600" y="6360160"/>
                  </a:cubicBezTo>
                  <a:lnTo>
                    <a:pt x="254000" y="6360160"/>
                  </a:lnTo>
                  <a:cubicBezTo>
                    <a:pt x="113665" y="6360160"/>
                    <a:pt x="0" y="6246368"/>
                    <a:pt x="0" y="6106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19200" y="3992880"/>
            <a:ext cx="5029200" cy="4770120"/>
            <a:chOff x="0" y="0"/>
            <a:chExt cx="6705600" cy="6360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05600" cy="254000"/>
            </a:xfrm>
            <a:custGeom>
              <a:avLst/>
              <a:gdLst/>
              <a:ahLst/>
              <a:cxnLst/>
              <a:rect r="r" b="b" t="t" l="l"/>
              <a:pathLst>
                <a:path h="254000" w="67056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451600" y="0"/>
                  </a:lnTo>
                  <a:cubicBezTo>
                    <a:pt x="6591935" y="0"/>
                    <a:pt x="6705600" y="113665"/>
                    <a:pt x="6705600" y="254000"/>
                  </a:cubicBezTo>
                  <a:cubicBezTo>
                    <a:pt x="6705600" y="169799"/>
                    <a:pt x="6637401" y="101600"/>
                    <a:pt x="6553200" y="101600"/>
                  </a:cubicBezTo>
                  <a:lnTo>
                    <a:pt x="254000" y="101600"/>
                  </a:lnTo>
                  <a:cubicBezTo>
                    <a:pt x="169799" y="101600"/>
                    <a:pt x="101600" y="169799"/>
                    <a:pt x="101600" y="254000"/>
                  </a:cubicBezTo>
                  <a:close/>
                </a:path>
              </a:pathLst>
            </a:custGeom>
            <a:solidFill>
              <a:srgbClr val="5FB3AC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638300" y="4440555"/>
            <a:ext cx="431673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 spc="150">
                <a:solidFill>
                  <a:srgbClr val="0B8F86"/>
                </a:solidFill>
                <a:latin typeface="Roboto Bold"/>
                <a:ea typeface="Roboto Bold"/>
                <a:cs typeface="Roboto Bold"/>
                <a:sym typeface="Roboto Bold"/>
              </a:rPr>
              <a:t>ANTES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38300" y="5042535"/>
            <a:ext cx="431673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Abre o perfil do cliente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38300" y="5606415"/>
            <a:ext cx="4316730" cy="120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A5856"/>
                </a:solidFill>
                <a:latin typeface="Roboto"/>
                <a:ea typeface="Roboto"/>
                <a:cs typeface="Roboto"/>
                <a:sym typeface="Roboto"/>
              </a:rPr>
              <a:t>Família, datas importantes, to-dos pendentes e pautas sugeridas pela IA.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629400" y="3992880"/>
            <a:ext cx="5029200" cy="4770120"/>
            <a:chOff x="0" y="0"/>
            <a:chExt cx="6705600" cy="6360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05600" cy="6360160"/>
            </a:xfrm>
            <a:custGeom>
              <a:avLst/>
              <a:gdLst/>
              <a:ahLst/>
              <a:cxnLst/>
              <a:rect r="r" b="b" t="t" l="l"/>
              <a:pathLst>
                <a:path h="6360160" w="6705600">
                  <a:moveTo>
                    <a:pt x="0" y="254000"/>
                  </a:moveTo>
                  <a:cubicBezTo>
                    <a:pt x="0" y="113792"/>
                    <a:pt x="113792" y="0"/>
                    <a:pt x="254000" y="0"/>
                  </a:cubicBezTo>
                  <a:lnTo>
                    <a:pt x="6451600" y="0"/>
                  </a:lnTo>
                  <a:cubicBezTo>
                    <a:pt x="6591935" y="0"/>
                    <a:pt x="6705600" y="113792"/>
                    <a:pt x="6705600" y="254000"/>
                  </a:cubicBezTo>
                  <a:lnTo>
                    <a:pt x="6705600" y="6106160"/>
                  </a:lnTo>
                  <a:cubicBezTo>
                    <a:pt x="6705600" y="6246495"/>
                    <a:pt x="6591808" y="6360160"/>
                    <a:pt x="6451600" y="6360160"/>
                  </a:cubicBezTo>
                  <a:lnTo>
                    <a:pt x="254000" y="6360160"/>
                  </a:lnTo>
                  <a:cubicBezTo>
                    <a:pt x="113665" y="6360160"/>
                    <a:pt x="0" y="6246368"/>
                    <a:pt x="0" y="6106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629400" y="3992880"/>
            <a:ext cx="5029200" cy="4770120"/>
            <a:chOff x="0" y="0"/>
            <a:chExt cx="6705600" cy="6360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705600" cy="254000"/>
            </a:xfrm>
            <a:custGeom>
              <a:avLst/>
              <a:gdLst/>
              <a:ahLst/>
              <a:cxnLst/>
              <a:rect r="r" b="b" t="t" l="l"/>
              <a:pathLst>
                <a:path h="254000" w="67056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451600" y="0"/>
                  </a:lnTo>
                  <a:cubicBezTo>
                    <a:pt x="6591935" y="0"/>
                    <a:pt x="6705600" y="113665"/>
                    <a:pt x="6705600" y="254000"/>
                  </a:cubicBezTo>
                  <a:cubicBezTo>
                    <a:pt x="6705600" y="169799"/>
                    <a:pt x="6637401" y="101600"/>
                    <a:pt x="6553200" y="101600"/>
                  </a:cubicBezTo>
                  <a:lnTo>
                    <a:pt x="254000" y="101600"/>
                  </a:lnTo>
                  <a:cubicBezTo>
                    <a:pt x="169799" y="101600"/>
                    <a:pt x="101600" y="169799"/>
                    <a:pt x="101600" y="254000"/>
                  </a:cubicBezTo>
                  <a:close/>
                </a:path>
              </a:pathLst>
            </a:custGeom>
            <a:solidFill>
              <a:srgbClr val="02C8BB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7048500" y="4440555"/>
            <a:ext cx="431673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 spc="150">
                <a:solidFill>
                  <a:srgbClr val="0B8F86"/>
                </a:solidFill>
                <a:latin typeface="Roboto Bold"/>
                <a:ea typeface="Roboto Bold"/>
                <a:cs typeface="Roboto Bold"/>
                <a:sym typeface="Roboto Bold"/>
              </a:rPr>
              <a:t>DURANTE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48500" y="5042535"/>
            <a:ext cx="431673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Conversa normalmente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048500" y="5606415"/>
            <a:ext cx="4316730" cy="120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A5856"/>
                </a:solidFill>
                <a:latin typeface="Roboto"/>
                <a:ea typeface="Roboto"/>
                <a:cs typeface="Roboto"/>
                <a:sym typeface="Roboto"/>
              </a:rPr>
              <a:t>A transcrição que já é feita hoje vira a entrada do sistema. Nada muda na reunião.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039600" y="3992880"/>
            <a:ext cx="5029200" cy="4770120"/>
            <a:chOff x="0" y="0"/>
            <a:chExt cx="6705600" cy="63601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705600" cy="6360160"/>
            </a:xfrm>
            <a:custGeom>
              <a:avLst/>
              <a:gdLst/>
              <a:ahLst/>
              <a:cxnLst/>
              <a:rect r="r" b="b" t="t" l="l"/>
              <a:pathLst>
                <a:path h="6360160" w="6705600">
                  <a:moveTo>
                    <a:pt x="0" y="254000"/>
                  </a:moveTo>
                  <a:cubicBezTo>
                    <a:pt x="0" y="113792"/>
                    <a:pt x="113792" y="0"/>
                    <a:pt x="254000" y="0"/>
                  </a:cubicBezTo>
                  <a:lnTo>
                    <a:pt x="6451600" y="0"/>
                  </a:lnTo>
                  <a:cubicBezTo>
                    <a:pt x="6591935" y="0"/>
                    <a:pt x="6705600" y="113792"/>
                    <a:pt x="6705600" y="254000"/>
                  </a:cubicBezTo>
                  <a:lnTo>
                    <a:pt x="6705600" y="6106160"/>
                  </a:lnTo>
                  <a:cubicBezTo>
                    <a:pt x="6705600" y="6246495"/>
                    <a:pt x="6591808" y="6360160"/>
                    <a:pt x="6451600" y="6360160"/>
                  </a:cubicBezTo>
                  <a:lnTo>
                    <a:pt x="254000" y="6360160"/>
                  </a:lnTo>
                  <a:cubicBezTo>
                    <a:pt x="113665" y="6360160"/>
                    <a:pt x="0" y="6246368"/>
                    <a:pt x="0" y="6106160"/>
                  </a:cubicBezTo>
                  <a:close/>
                </a:path>
              </a:pathLst>
            </a:custGeom>
            <a:solidFill>
              <a:srgbClr val="165857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039600" y="3992880"/>
            <a:ext cx="5029200" cy="4770120"/>
            <a:chOff x="0" y="0"/>
            <a:chExt cx="6705600" cy="63601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705600" cy="254000"/>
            </a:xfrm>
            <a:custGeom>
              <a:avLst/>
              <a:gdLst/>
              <a:ahLst/>
              <a:cxnLst/>
              <a:rect r="r" b="b" t="t" l="l"/>
              <a:pathLst>
                <a:path h="254000" w="67056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451600" y="0"/>
                  </a:lnTo>
                  <a:cubicBezTo>
                    <a:pt x="6591935" y="0"/>
                    <a:pt x="6705600" y="113665"/>
                    <a:pt x="6705600" y="254000"/>
                  </a:cubicBezTo>
                  <a:cubicBezTo>
                    <a:pt x="6705600" y="169799"/>
                    <a:pt x="6637401" y="101600"/>
                    <a:pt x="6553200" y="101600"/>
                  </a:cubicBezTo>
                  <a:lnTo>
                    <a:pt x="254000" y="101600"/>
                  </a:lnTo>
                  <a:cubicBezTo>
                    <a:pt x="169799" y="101600"/>
                    <a:pt x="101600" y="169799"/>
                    <a:pt x="101600" y="254000"/>
                  </a:cubicBezTo>
                  <a:close/>
                </a:path>
              </a:pathLst>
            </a:custGeom>
            <a:solidFill>
              <a:srgbClr val="165857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2458700" y="4440555"/>
            <a:ext cx="431673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 spc="150">
                <a:solidFill>
                  <a:srgbClr val="02C8BB"/>
                </a:solidFill>
                <a:latin typeface="Roboto Bold"/>
                <a:ea typeface="Roboto Bold"/>
                <a:cs typeface="Roboto Bold"/>
                <a:sym typeface="Roboto Bold"/>
              </a:rPr>
              <a:t>DEPOIS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458700" y="5042535"/>
            <a:ext cx="431673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4FAF9"/>
                </a:solidFill>
                <a:latin typeface="Roboto Bold"/>
                <a:ea typeface="Roboto Bold"/>
                <a:cs typeface="Roboto Bold"/>
                <a:sym typeface="Roboto Bold"/>
              </a:rPr>
              <a:t>Perfil atualizado sozinho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58700" y="5606415"/>
            <a:ext cx="4316730" cy="120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BFE3DF"/>
                </a:solidFill>
                <a:latin typeface="Roboto"/>
                <a:ea typeface="Roboto"/>
                <a:cs typeface="Roboto"/>
                <a:sym typeface="Roboto"/>
              </a:rPr>
              <a:t>Resumo em 3 pontos, tom da reunião, fatos novos e to-dos. Sem digitar nem aprovar nada.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19200" y="9309735"/>
            <a:ext cx="39243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7A78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71575"/>
            <a:ext cx="1632508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 spc="225">
                <a:solidFill>
                  <a:srgbClr val="0B8F86"/>
                </a:solidFill>
                <a:latin typeface="Roboto Bold"/>
                <a:ea typeface="Roboto Bold"/>
                <a:cs typeface="Roboto Bold"/>
                <a:sym typeface="Roboto Bold"/>
              </a:rPr>
              <a:t>BENEFÍCIOS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792605"/>
            <a:ext cx="16325088" cy="7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O histórico fica com a casa, não com a pessoa.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3108960"/>
            <a:ext cx="5029200" cy="5654040"/>
            <a:chOff x="0" y="0"/>
            <a:chExt cx="6705600" cy="75387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05600" cy="7538720"/>
            </a:xfrm>
            <a:custGeom>
              <a:avLst/>
              <a:gdLst/>
              <a:ahLst/>
              <a:cxnLst/>
              <a:rect r="r" b="b" t="t" l="l"/>
              <a:pathLst>
                <a:path h="7538720" w="67056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451600" y="0"/>
                  </a:lnTo>
                  <a:cubicBezTo>
                    <a:pt x="6591935" y="0"/>
                    <a:pt x="6705600" y="113665"/>
                    <a:pt x="6705600" y="254000"/>
                  </a:cubicBezTo>
                  <a:lnTo>
                    <a:pt x="6705600" y="7284720"/>
                  </a:lnTo>
                  <a:cubicBezTo>
                    <a:pt x="6705600" y="7425055"/>
                    <a:pt x="6591935" y="7538720"/>
                    <a:pt x="6451600" y="7538720"/>
                  </a:cubicBezTo>
                  <a:lnTo>
                    <a:pt x="254000" y="7538720"/>
                  </a:lnTo>
                  <a:cubicBezTo>
                    <a:pt x="113665" y="7538720"/>
                    <a:pt x="0" y="7425055"/>
                    <a:pt x="0" y="72847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9200" y="3108960"/>
            <a:ext cx="5029200" cy="5654040"/>
            <a:chOff x="0" y="0"/>
            <a:chExt cx="6705600" cy="75387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05600" cy="254000"/>
            </a:xfrm>
            <a:custGeom>
              <a:avLst/>
              <a:gdLst/>
              <a:ahLst/>
              <a:cxnLst/>
              <a:rect r="r" b="b" t="t" l="l"/>
              <a:pathLst>
                <a:path h="254000" w="67056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451600" y="0"/>
                  </a:lnTo>
                  <a:cubicBezTo>
                    <a:pt x="6591935" y="0"/>
                    <a:pt x="6705600" y="113665"/>
                    <a:pt x="6705600" y="254000"/>
                  </a:cubicBezTo>
                  <a:cubicBezTo>
                    <a:pt x="6705600" y="169799"/>
                    <a:pt x="6637401" y="101600"/>
                    <a:pt x="6553200" y="101600"/>
                  </a:cubicBezTo>
                  <a:lnTo>
                    <a:pt x="254000" y="101600"/>
                  </a:lnTo>
                  <a:cubicBezTo>
                    <a:pt x="169799" y="101600"/>
                    <a:pt x="101600" y="169799"/>
                    <a:pt x="101600" y="254000"/>
                  </a:cubicBezTo>
                  <a:close/>
                </a:path>
              </a:pathLst>
            </a:custGeom>
            <a:solidFill>
              <a:srgbClr val="16585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76400" y="3642360"/>
            <a:ext cx="533400" cy="533400"/>
            <a:chOff x="0" y="0"/>
            <a:chExt cx="711200" cy="711200"/>
          </a:xfrm>
        </p:grpSpPr>
        <p:sp>
          <p:nvSpPr>
            <p:cNvPr name="Freeform 9" id="9" descr="Users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0" y="0"/>
                  </a:moveTo>
                  <a:lnTo>
                    <a:pt x="711200" y="0"/>
                  </a:lnTo>
                  <a:lnTo>
                    <a:pt x="711200" y="711200"/>
                  </a:lnTo>
                  <a:lnTo>
                    <a:pt x="0" y="71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400300" y="3661410"/>
            <a:ext cx="191909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Assessor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76400" y="4394835"/>
            <a:ext cx="4238244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Zero digitação</a:t>
            </a:r>
            <a:r>
              <a:rPr lang="en-US" sz="2100">
                <a:solidFill>
                  <a:srgbClr val="4A5856"/>
                </a:solidFill>
                <a:latin typeface="Roboto"/>
                <a:ea typeface="Roboto"/>
                <a:cs typeface="Roboto"/>
                <a:sym typeface="Roboto"/>
              </a:rPr>
              <a:t> depois da reunião.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76400" y="4958715"/>
            <a:ext cx="4238244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Chega preparado:</a:t>
            </a:r>
            <a:r>
              <a:rPr lang="en-US" sz="2100">
                <a:solidFill>
                  <a:srgbClr val="4A5856"/>
                </a:solidFill>
                <a:latin typeface="Roboto"/>
                <a:ea typeface="Roboto"/>
                <a:cs typeface="Roboto"/>
                <a:sym typeface="Roboto"/>
              </a:rPr>
              <a:t> aniversários, promessas e pautas na tela.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76400" y="5895975"/>
            <a:ext cx="4238244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Atenção total</a:t>
            </a:r>
            <a:r>
              <a:rPr lang="en-US" sz="2100">
                <a:solidFill>
                  <a:srgbClr val="4A5856"/>
                </a:solidFill>
                <a:latin typeface="Roboto"/>
                <a:ea typeface="Roboto"/>
                <a:cs typeface="Roboto"/>
                <a:sym typeface="Roboto"/>
              </a:rPr>
              <a:t> no cliente, sem caderno.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629400" y="3108960"/>
            <a:ext cx="5029200" cy="5654040"/>
            <a:chOff x="0" y="0"/>
            <a:chExt cx="6705600" cy="7538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05600" cy="7538720"/>
            </a:xfrm>
            <a:custGeom>
              <a:avLst/>
              <a:gdLst/>
              <a:ahLst/>
              <a:cxnLst/>
              <a:rect r="r" b="b" t="t" l="l"/>
              <a:pathLst>
                <a:path h="7538720" w="67056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451600" y="0"/>
                  </a:lnTo>
                  <a:cubicBezTo>
                    <a:pt x="6591935" y="0"/>
                    <a:pt x="6705600" y="113665"/>
                    <a:pt x="6705600" y="254000"/>
                  </a:cubicBezTo>
                  <a:lnTo>
                    <a:pt x="6705600" y="7284720"/>
                  </a:lnTo>
                  <a:cubicBezTo>
                    <a:pt x="6705600" y="7425055"/>
                    <a:pt x="6591935" y="7538720"/>
                    <a:pt x="6451600" y="7538720"/>
                  </a:cubicBezTo>
                  <a:lnTo>
                    <a:pt x="254000" y="7538720"/>
                  </a:lnTo>
                  <a:cubicBezTo>
                    <a:pt x="113665" y="7538720"/>
                    <a:pt x="0" y="7425055"/>
                    <a:pt x="0" y="72847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629400" y="3108960"/>
            <a:ext cx="5029200" cy="5654040"/>
            <a:chOff x="0" y="0"/>
            <a:chExt cx="6705600" cy="75387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705600" cy="254000"/>
            </a:xfrm>
            <a:custGeom>
              <a:avLst/>
              <a:gdLst/>
              <a:ahLst/>
              <a:cxnLst/>
              <a:rect r="r" b="b" t="t" l="l"/>
              <a:pathLst>
                <a:path h="254000" w="67056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451600" y="0"/>
                  </a:lnTo>
                  <a:cubicBezTo>
                    <a:pt x="6591935" y="0"/>
                    <a:pt x="6705600" y="113665"/>
                    <a:pt x="6705600" y="254000"/>
                  </a:cubicBezTo>
                  <a:cubicBezTo>
                    <a:pt x="6705600" y="169799"/>
                    <a:pt x="6637401" y="101600"/>
                    <a:pt x="6553200" y="101600"/>
                  </a:cubicBezTo>
                  <a:lnTo>
                    <a:pt x="254000" y="101600"/>
                  </a:lnTo>
                  <a:cubicBezTo>
                    <a:pt x="169799" y="101600"/>
                    <a:pt x="101600" y="169799"/>
                    <a:pt x="101600" y="254000"/>
                  </a:cubicBezTo>
                  <a:close/>
                </a:path>
              </a:pathLst>
            </a:custGeom>
            <a:solidFill>
              <a:srgbClr val="02C8B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086600" y="3642360"/>
            <a:ext cx="533400" cy="533400"/>
            <a:chOff x="0" y="0"/>
            <a:chExt cx="711200" cy="711200"/>
          </a:xfrm>
        </p:grpSpPr>
        <p:sp>
          <p:nvSpPr>
            <p:cNvPr name="Freeform 19" id="19" descr="Star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0" y="0"/>
                  </a:moveTo>
                  <a:lnTo>
                    <a:pt x="711200" y="0"/>
                  </a:lnTo>
                  <a:lnTo>
                    <a:pt x="711200" y="711200"/>
                  </a:lnTo>
                  <a:lnTo>
                    <a:pt x="0" y="71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7810500" y="3661410"/>
            <a:ext cx="144603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Cliente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086600" y="4394835"/>
            <a:ext cx="4238244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É lembrado:</a:t>
            </a:r>
            <a:r>
              <a:rPr lang="en-US" sz="2100">
                <a:solidFill>
                  <a:srgbClr val="4A5856"/>
                </a:solidFill>
                <a:latin typeface="Roboto"/>
                <a:ea typeface="Roboto"/>
                <a:cs typeface="Roboto"/>
                <a:sym typeface="Roboto"/>
              </a:rPr>
              <a:t> o assessor sabe do filho, da viagem, do plano.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086600" y="5332095"/>
            <a:ext cx="4238244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Não se repete</a:t>
            </a:r>
            <a:r>
              <a:rPr lang="en-US" sz="2100">
                <a:solidFill>
                  <a:srgbClr val="4A5856"/>
                </a:solidFill>
                <a:latin typeface="Roboto"/>
                <a:ea typeface="Roboto"/>
                <a:cs typeface="Roboto"/>
                <a:sym typeface="Roboto"/>
              </a:rPr>
              <a:t> a cada reunião.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86600" y="5895975"/>
            <a:ext cx="4238244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Atendimento contínuo</a:t>
            </a:r>
            <a:r>
              <a:rPr lang="en-US" sz="2100">
                <a:solidFill>
                  <a:srgbClr val="4A5856"/>
                </a:solidFill>
                <a:latin typeface="Roboto"/>
                <a:ea typeface="Roboto"/>
                <a:cs typeface="Roboto"/>
                <a:sym typeface="Roboto"/>
              </a:rPr>
              <a:t> mesmo se trocar de assessor.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039600" y="3108960"/>
            <a:ext cx="5029200" cy="5654040"/>
            <a:chOff x="0" y="0"/>
            <a:chExt cx="6705600" cy="75387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05600" cy="7538720"/>
            </a:xfrm>
            <a:custGeom>
              <a:avLst/>
              <a:gdLst/>
              <a:ahLst/>
              <a:cxnLst/>
              <a:rect r="r" b="b" t="t" l="l"/>
              <a:pathLst>
                <a:path h="7538720" w="67056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451600" y="0"/>
                  </a:lnTo>
                  <a:cubicBezTo>
                    <a:pt x="6591935" y="0"/>
                    <a:pt x="6705600" y="113665"/>
                    <a:pt x="6705600" y="254000"/>
                  </a:cubicBezTo>
                  <a:lnTo>
                    <a:pt x="6705600" y="7284720"/>
                  </a:lnTo>
                  <a:cubicBezTo>
                    <a:pt x="6705600" y="7425055"/>
                    <a:pt x="6591935" y="7538720"/>
                    <a:pt x="6451600" y="7538720"/>
                  </a:cubicBezTo>
                  <a:lnTo>
                    <a:pt x="254000" y="7538720"/>
                  </a:lnTo>
                  <a:cubicBezTo>
                    <a:pt x="113665" y="7538720"/>
                    <a:pt x="0" y="7425055"/>
                    <a:pt x="0" y="7284720"/>
                  </a:cubicBezTo>
                  <a:close/>
                </a:path>
              </a:pathLst>
            </a:custGeom>
            <a:solidFill>
              <a:srgbClr val="165857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039600" y="3108960"/>
            <a:ext cx="5029200" cy="5654040"/>
            <a:chOff x="0" y="0"/>
            <a:chExt cx="6705600" cy="75387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705600" cy="254000"/>
            </a:xfrm>
            <a:custGeom>
              <a:avLst/>
              <a:gdLst/>
              <a:ahLst/>
              <a:cxnLst/>
              <a:rect r="r" b="b" t="t" l="l"/>
              <a:pathLst>
                <a:path h="254000" w="67056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451600" y="0"/>
                  </a:lnTo>
                  <a:cubicBezTo>
                    <a:pt x="6591935" y="0"/>
                    <a:pt x="6705600" y="113665"/>
                    <a:pt x="6705600" y="254000"/>
                  </a:cubicBezTo>
                  <a:cubicBezTo>
                    <a:pt x="6705600" y="169799"/>
                    <a:pt x="6637401" y="101600"/>
                    <a:pt x="6553200" y="101600"/>
                  </a:cubicBezTo>
                  <a:lnTo>
                    <a:pt x="254000" y="101600"/>
                  </a:lnTo>
                  <a:cubicBezTo>
                    <a:pt x="169799" y="101600"/>
                    <a:pt x="101600" y="169799"/>
                    <a:pt x="101600" y="254000"/>
                  </a:cubicBezTo>
                  <a:close/>
                </a:path>
              </a:pathLst>
            </a:custGeom>
            <a:solidFill>
              <a:srgbClr val="165857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496800" y="3642360"/>
            <a:ext cx="533400" cy="533400"/>
            <a:chOff x="0" y="0"/>
            <a:chExt cx="711200" cy="711200"/>
          </a:xfrm>
        </p:grpSpPr>
        <p:sp>
          <p:nvSpPr>
            <p:cNvPr name="Freeform 29" id="29" descr="Home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0" y="0"/>
                  </a:moveTo>
                  <a:lnTo>
                    <a:pt x="711200" y="0"/>
                  </a:lnTo>
                  <a:lnTo>
                    <a:pt x="711200" y="711200"/>
                  </a:lnTo>
                  <a:lnTo>
                    <a:pt x="0" y="71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3220700" y="3661410"/>
            <a:ext cx="303109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4FAF9"/>
                </a:solidFill>
                <a:latin typeface="Roboto Bold"/>
                <a:ea typeface="Roboto Bold"/>
                <a:cs typeface="Roboto Bold"/>
                <a:sym typeface="Roboto Bold"/>
              </a:rPr>
              <a:t>Escritório e XP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96800" y="4394835"/>
            <a:ext cx="4238244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4FAF9"/>
                </a:solidFill>
                <a:latin typeface="Roboto Bold"/>
                <a:ea typeface="Roboto Bold"/>
                <a:cs typeface="Roboto Bold"/>
                <a:sym typeface="Roboto Bold"/>
              </a:rPr>
              <a:t>Transição de carteira</a:t>
            </a:r>
            <a:r>
              <a:rPr lang="en-US" sz="2100">
                <a:solidFill>
                  <a:srgbClr val="BFE3DF"/>
                </a:solidFill>
                <a:latin typeface="Roboto"/>
                <a:ea typeface="Roboto"/>
                <a:cs typeface="Roboto"/>
                <a:sym typeface="Roboto"/>
              </a:rPr>
              <a:t> sem perder contexto.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96800" y="5332095"/>
            <a:ext cx="4238244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4FAF9"/>
                </a:solidFill>
                <a:latin typeface="Roboto Bold"/>
                <a:ea typeface="Roboto Bold"/>
                <a:cs typeface="Roboto Bold"/>
                <a:sym typeface="Roboto Bold"/>
              </a:rPr>
              <a:t>Dado estruturado</a:t>
            </a:r>
            <a:r>
              <a:rPr lang="en-US" sz="2100">
                <a:solidFill>
                  <a:srgbClr val="BFE3DF"/>
                </a:solidFill>
                <a:latin typeface="Roboto"/>
                <a:ea typeface="Roboto"/>
                <a:cs typeface="Roboto"/>
                <a:sym typeface="Roboto"/>
              </a:rPr>
              <a:t> por cliente, não anotação solta.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496800" y="6269355"/>
            <a:ext cx="4238244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4FAF9"/>
                </a:solidFill>
                <a:latin typeface="Roboto Bold"/>
                <a:ea typeface="Roboto Bold"/>
                <a:cs typeface="Roboto Bold"/>
                <a:sym typeface="Roboto Bold"/>
              </a:rPr>
              <a:t>Mais retenção</a:t>
            </a:r>
            <a:r>
              <a:rPr lang="en-US" sz="2100">
                <a:solidFill>
                  <a:srgbClr val="BFE3DF"/>
                </a:solidFill>
                <a:latin typeface="Roboto"/>
                <a:ea typeface="Roboto"/>
                <a:cs typeface="Roboto"/>
                <a:sym typeface="Roboto"/>
              </a:rPr>
              <a:t>: cliente lembrado é cliente que fica.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19200" y="9309735"/>
            <a:ext cx="39243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7A78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71575"/>
            <a:ext cx="1632508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 spc="225">
                <a:solidFill>
                  <a:srgbClr val="0B8F86"/>
                </a:solidFill>
                <a:latin typeface="Roboto Bold"/>
                <a:ea typeface="Roboto Bold"/>
                <a:cs typeface="Roboto Bold"/>
                <a:sym typeface="Roboto Bold"/>
              </a:rPr>
              <a:t>SEGURANÇA, PRIVACIDADE E USO RESPONSÁVEL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792605"/>
            <a:ext cx="10777984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Registrar o que foi dito, nada além.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2880360"/>
            <a:ext cx="5079921" cy="2133600"/>
            <a:chOff x="0" y="0"/>
            <a:chExt cx="6773228" cy="2844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2844800"/>
            </a:xfrm>
            <a:custGeom>
              <a:avLst/>
              <a:gdLst/>
              <a:ahLst/>
              <a:cxnLst/>
              <a:rect r="r" b="b" t="t" l="l"/>
              <a:pathLst>
                <a:path h="2844800" w="6773291">
                  <a:moveTo>
                    <a:pt x="0" y="192278"/>
                  </a:moveTo>
                  <a:cubicBezTo>
                    <a:pt x="0" y="86106"/>
                    <a:pt x="86106" y="0"/>
                    <a:pt x="192278" y="0"/>
                  </a:cubicBezTo>
                  <a:lnTo>
                    <a:pt x="6581013" y="0"/>
                  </a:lnTo>
                  <a:cubicBezTo>
                    <a:pt x="6687185" y="0"/>
                    <a:pt x="6773291" y="86106"/>
                    <a:pt x="6773291" y="192278"/>
                  </a:cubicBezTo>
                  <a:lnTo>
                    <a:pt x="6773291" y="2652522"/>
                  </a:lnTo>
                  <a:cubicBezTo>
                    <a:pt x="6773291" y="2758694"/>
                    <a:pt x="6687185" y="2844800"/>
                    <a:pt x="6581013" y="2844800"/>
                  </a:cubicBezTo>
                  <a:lnTo>
                    <a:pt x="192278" y="2844800"/>
                  </a:lnTo>
                  <a:cubicBezTo>
                    <a:pt x="86106" y="2844800"/>
                    <a:pt x="0" y="2758694"/>
                    <a:pt x="0" y="26525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2E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577340" y="3200400"/>
            <a:ext cx="419100" cy="419100"/>
            <a:chOff x="0" y="0"/>
            <a:chExt cx="558800" cy="558800"/>
          </a:xfrm>
        </p:grpSpPr>
        <p:sp>
          <p:nvSpPr>
            <p:cNvPr name="Freeform 7" id="7" descr="Lock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0"/>
                  </a:moveTo>
                  <a:lnTo>
                    <a:pt x="558800" y="0"/>
                  </a:lnTo>
                  <a:lnTo>
                    <a:pt x="558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148840" y="3217545"/>
            <a:ext cx="1835086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Áudio local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77340" y="3686175"/>
            <a:ext cx="4494552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A5856"/>
                </a:solidFill>
                <a:latin typeface="Roboto"/>
                <a:ea typeface="Roboto"/>
                <a:cs typeface="Roboto"/>
                <a:sym typeface="Roboto"/>
              </a:rPr>
              <a:t>Quando a entrada é áudio, a transcrição roda offline. O áudio não sobe para a nuvem.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603921" y="2880360"/>
            <a:ext cx="5080035" cy="2133600"/>
            <a:chOff x="0" y="0"/>
            <a:chExt cx="6773380" cy="2844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73418" cy="2844800"/>
            </a:xfrm>
            <a:custGeom>
              <a:avLst/>
              <a:gdLst/>
              <a:ahLst/>
              <a:cxnLst/>
              <a:rect r="r" b="b" t="t" l="l"/>
              <a:pathLst>
                <a:path h="2844800" w="6773418">
                  <a:moveTo>
                    <a:pt x="0" y="192278"/>
                  </a:moveTo>
                  <a:cubicBezTo>
                    <a:pt x="0" y="86106"/>
                    <a:pt x="86106" y="0"/>
                    <a:pt x="192278" y="0"/>
                  </a:cubicBezTo>
                  <a:lnTo>
                    <a:pt x="6581140" y="0"/>
                  </a:lnTo>
                  <a:cubicBezTo>
                    <a:pt x="6687312" y="0"/>
                    <a:pt x="6773418" y="86106"/>
                    <a:pt x="6773418" y="192278"/>
                  </a:cubicBezTo>
                  <a:lnTo>
                    <a:pt x="6773418" y="2652522"/>
                  </a:lnTo>
                  <a:cubicBezTo>
                    <a:pt x="6773418" y="2758694"/>
                    <a:pt x="6687312" y="2844800"/>
                    <a:pt x="6581140" y="2844800"/>
                  </a:cubicBezTo>
                  <a:lnTo>
                    <a:pt x="192278" y="2844800"/>
                  </a:lnTo>
                  <a:cubicBezTo>
                    <a:pt x="86106" y="2844800"/>
                    <a:pt x="0" y="2758694"/>
                    <a:pt x="0" y="26525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2E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962061" y="3200400"/>
            <a:ext cx="419100" cy="419100"/>
            <a:chOff x="0" y="0"/>
            <a:chExt cx="558800" cy="558800"/>
          </a:xfrm>
        </p:grpSpPr>
        <p:sp>
          <p:nvSpPr>
            <p:cNvPr name="Freeform 13" id="13" descr="Search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0"/>
                  </a:moveTo>
                  <a:lnTo>
                    <a:pt x="558800" y="0"/>
                  </a:lnTo>
                  <a:lnTo>
                    <a:pt x="558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533561" y="3217545"/>
            <a:ext cx="1740075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Rastreável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62061" y="3686175"/>
            <a:ext cx="4494676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A5856"/>
                </a:solidFill>
                <a:latin typeface="Roboto"/>
                <a:ea typeface="Roboto"/>
                <a:cs typeface="Roboto"/>
                <a:sym typeface="Roboto"/>
              </a:rPr>
              <a:t>Cada informação do perfil guarda o trecho da conversa de onde saiu. Dá para conferir a origem.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988765" y="2880360"/>
            <a:ext cx="5080035" cy="2133600"/>
            <a:chOff x="0" y="0"/>
            <a:chExt cx="6773380" cy="2844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773418" cy="2844800"/>
            </a:xfrm>
            <a:custGeom>
              <a:avLst/>
              <a:gdLst/>
              <a:ahLst/>
              <a:cxnLst/>
              <a:rect r="r" b="b" t="t" l="l"/>
              <a:pathLst>
                <a:path h="2844800" w="6773418">
                  <a:moveTo>
                    <a:pt x="0" y="192278"/>
                  </a:moveTo>
                  <a:cubicBezTo>
                    <a:pt x="0" y="86106"/>
                    <a:pt x="86106" y="0"/>
                    <a:pt x="192278" y="0"/>
                  </a:cubicBezTo>
                  <a:lnTo>
                    <a:pt x="6581140" y="0"/>
                  </a:lnTo>
                  <a:cubicBezTo>
                    <a:pt x="6687312" y="0"/>
                    <a:pt x="6773418" y="86106"/>
                    <a:pt x="6773418" y="192278"/>
                  </a:cubicBezTo>
                  <a:lnTo>
                    <a:pt x="6773418" y="2652522"/>
                  </a:lnTo>
                  <a:cubicBezTo>
                    <a:pt x="6773418" y="2758694"/>
                    <a:pt x="6687312" y="2844800"/>
                    <a:pt x="6581140" y="2844800"/>
                  </a:cubicBezTo>
                  <a:lnTo>
                    <a:pt x="192278" y="2844800"/>
                  </a:lnTo>
                  <a:cubicBezTo>
                    <a:pt x="86106" y="2844800"/>
                    <a:pt x="0" y="2758694"/>
                    <a:pt x="0" y="26525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2E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346905" y="3200400"/>
            <a:ext cx="419100" cy="419100"/>
            <a:chOff x="0" y="0"/>
            <a:chExt cx="558800" cy="558800"/>
          </a:xfrm>
        </p:grpSpPr>
        <p:sp>
          <p:nvSpPr>
            <p:cNvPr name="Freeform 19" id="19" descr="Trust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0"/>
                  </a:moveTo>
                  <a:lnTo>
                    <a:pt x="558800" y="0"/>
                  </a:lnTo>
                  <a:lnTo>
                    <a:pt x="558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918405" y="3217545"/>
            <a:ext cx="3269409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Sem recomendação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46905" y="3686175"/>
            <a:ext cx="4494676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A5856"/>
                </a:solidFill>
                <a:latin typeface="Roboto"/>
                <a:ea typeface="Roboto"/>
                <a:cs typeface="Roboto"/>
                <a:sym typeface="Roboto"/>
              </a:rPr>
              <a:t>Registra o que o cliente disse. Não sugere investimento nem deduz perfil de risco.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19200" y="5318760"/>
            <a:ext cx="5079921" cy="2133600"/>
            <a:chOff x="0" y="0"/>
            <a:chExt cx="6773228" cy="2844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773291" cy="2844800"/>
            </a:xfrm>
            <a:custGeom>
              <a:avLst/>
              <a:gdLst/>
              <a:ahLst/>
              <a:cxnLst/>
              <a:rect r="r" b="b" t="t" l="l"/>
              <a:pathLst>
                <a:path h="2844800" w="6773291">
                  <a:moveTo>
                    <a:pt x="0" y="192278"/>
                  </a:moveTo>
                  <a:cubicBezTo>
                    <a:pt x="0" y="86106"/>
                    <a:pt x="86106" y="0"/>
                    <a:pt x="192278" y="0"/>
                  </a:cubicBezTo>
                  <a:lnTo>
                    <a:pt x="6581013" y="0"/>
                  </a:lnTo>
                  <a:cubicBezTo>
                    <a:pt x="6687185" y="0"/>
                    <a:pt x="6773291" y="86106"/>
                    <a:pt x="6773291" y="192278"/>
                  </a:cubicBezTo>
                  <a:lnTo>
                    <a:pt x="6773291" y="2652522"/>
                  </a:lnTo>
                  <a:cubicBezTo>
                    <a:pt x="6773291" y="2758694"/>
                    <a:pt x="6687185" y="2844800"/>
                    <a:pt x="6581013" y="2844800"/>
                  </a:cubicBezTo>
                  <a:lnTo>
                    <a:pt x="192278" y="2844800"/>
                  </a:lnTo>
                  <a:cubicBezTo>
                    <a:pt x="86106" y="2844800"/>
                    <a:pt x="0" y="2758694"/>
                    <a:pt x="0" y="26525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2E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577340" y="5638800"/>
            <a:ext cx="419100" cy="419100"/>
            <a:chOff x="0" y="0"/>
            <a:chExt cx="558800" cy="558800"/>
          </a:xfrm>
        </p:grpSpPr>
        <p:sp>
          <p:nvSpPr>
            <p:cNvPr name="Freeform 25" id="25" descr="Verified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0"/>
                  </a:moveTo>
                  <a:lnTo>
                    <a:pt x="558800" y="0"/>
                  </a:lnTo>
                  <a:lnTo>
                    <a:pt x="558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2148840" y="5655945"/>
            <a:ext cx="2878646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Suitability intacto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77340" y="6124575"/>
            <a:ext cx="4494552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A5856"/>
                </a:solidFill>
                <a:latin typeface="Roboto"/>
                <a:ea typeface="Roboto"/>
                <a:cs typeface="Roboto"/>
                <a:sym typeface="Roboto"/>
              </a:rPr>
              <a:t>Perfil de investidor só é registrado se dito com todas as letras. O questionário oficial continua valendo.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603921" y="5318760"/>
            <a:ext cx="5080035" cy="2133600"/>
            <a:chOff x="0" y="0"/>
            <a:chExt cx="6773380" cy="2844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73418" cy="2844800"/>
            </a:xfrm>
            <a:custGeom>
              <a:avLst/>
              <a:gdLst/>
              <a:ahLst/>
              <a:cxnLst/>
              <a:rect r="r" b="b" t="t" l="l"/>
              <a:pathLst>
                <a:path h="2844800" w="6773418">
                  <a:moveTo>
                    <a:pt x="0" y="192278"/>
                  </a:moveTo>
                  <a:cubicBezTo>
                    <a:pt x="0" y="86106"/>
                    <a:pt x="86106" y="0"/>
                    <a:pt x="192278" y="0"/>
                  </a:cubicBezTo>
                  <a:lnTo>
                    <a:pt x="6581140" y="0"/>
                  </a:lnTo>
                  <a:cubicBezTo>
                    <a:pt x="6687312" y="0"/>
                    <a:pt x="6773418" y="86106"/>
                    <a:pt x="6773418" y="192278"/>
                  </a:cubicBezTo>
                  <a:lnTo>
                    <a:pt x="6773418" y="2652522"/>
                  </a:lnTo>
                  <a:cubicBezTo>
                    <a:pt x="6773418" y="2758694"/>
                    <a:pt x="6687312" y="2844800"/>
                    <a:pt x="6581140" y="2844800"/>
                  </a:cubicBezTo>
                  <a:lnTo>
                    <a:pt x="192278" y="2844800"/>
                  </a:lnTo>
                  <a:cubicBezTo>
                    <a:pt x="86106" y="2844800"/>
                    <a:pt x="0" y="2758694"/>
                    <a:pt x="0" y="26525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2E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962061" y="5638800"/>
            <a:ext cx="419100" cy="419100"/>
            <a:chOff x="0" y="0"/>
            <a:chExt cx="558800" cy="558800"/>
          </a:xfrm>
        </p:grpSpPr>
        <p:sp>
          <p:nvSpPr>
            <p:cNvPr name="Freeform 31" id="31" descr="Database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0"/>
                  </a:moveTo>
                  <a:lnTo>
                    <a:pt x="558800" y="0"/>
                  </a:lnTo>
                  <a:lnTo>
                    <a:pt x="558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7533561" y="5655945"/>
            <a:ext cx="2443591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Dados fictícios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962061" y="6124575"/>
            <a:ext cx="4494676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A5856"/>
                </a:solidFill>
                <a:latin typeface="Roboto"/>
                <a:ea typeface="Roboto"/>
                <a:cs typeface="Roboto"/>
                <a:sym typeface="Roboto"/>
              </a:rPr>
              <a:t>Na demo, só o texto vai para a API de IA, e só com clientes inventados.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1988765" y="5318760"/>
            <a:ext cx="5080035" cy="2133600"/>
            <a:chOff x="0" y="0"/>
            <a:chExt cx="6773380" cy="2844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773418" cy="2844800"/>
            </a:xfrm>
            <a:custGeom>
              <a:avLst/>
              <a:gdLst/>
              <a:ahLst/>
              <a:cxnLst/>
              <a:rect r="r" b="b" t="t" l="l"/>
              <a:pathLst>
                <a:path h="2844800" w="6773418">
                  <a:moveTo>
                    <a:pt x="0" y="192278"/>
                  </a:moveTo>
                  <a:cubicBezTo>
                    <a:pt x="0" y="86106"/>
                    <a:pt x="86106" y="0"/>
                    <a:pt x="192278" y="0"/>
                  </a:cubicBezTo>
                  <a:lnTo>
                    <a:pt x="6581140" y="0"/>
                  </a:lnTo>
                  <a:cubicBezTo>
                    <a:pt x="6687312" y="0"/>
                    <a:pt x="6773418" y="86106"/>
                    <a:pt x="6773418" y="192278"/>
                  </a:cubicBezTo>
                  <a:lnTo>
                    <a:pt x="6773418" y="2652522"/>
                  </a:lnTo>
                  <a:cubicBezTo>
                    <a:pt x="6773418" y="2758694"/>
                    <a:pt x="6687312" y="2844800"/>
                    <a:pt x="6581140" y="2844800"/>
                  </a:cubicBezTo>
                  <a:lnTo>
                    <a:pt x="192278" y="2844800"/>
                  </a:lnTo>
                  <a:cubicBezTo>
                    <a:pt x="86106" y="2844800"/>
                    <a:pt x="0" y="2758694"/>
                    <a:pt x="0" y="2652522"/>
                  </a:cubicBezTo>
                  <a:close/>
                </a:path>
              </a:pathLst>
            </a:custGeom>
            <a:solidFill>
              <a:srgbClr val="165857"/>
            </a:solidFill>
            <a:ln w="19050" cap="sq">
              <a:solidFill>
                <a:srgbClr val="165857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346905" y="5638800"/>
            <a:ext cx="419100" cy="419100"/>
            <a:chOff x="0" y="0"/>
            <a:chExt cx="558800" cy="558800"/>
          </a:xfrm>
        </p:grpSpPr>
        <p:sp>
          <p:nvSpPr>
            <p:cNvPr name="Freeform 37" id="37" descr="Settings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0"/>
                  </a:moveTo>
                  <a:lnTo>
                    <a:pt x="558800" y="0"/>
                  </a:lnTo>
                  <a:lnTo>
                    <a:pt x="558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2918405" y="5655945"/>
            <a:ext cx="1766364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4FAF9"/>
                </a:solidFill>
                <a:latin typeface="Roboto Bold"/>
                <a:ea typeface="Roboto Bold"/>
                <a:cs typeface="Roboto Bold"/>
                <a:sym typeface="Roboto Bold"/>
              </a:rPr>
              <a:t>IA trocável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346905" y="6124575"/>
            <a:ext cx="4494676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BFE3DF"/>
                </a:solidFill>
                <a:latin typeface="Roboto"/>
                <a:ea typeface="Roboto"/>
                <a:cs typeface="Roboto"/>
                <a:sym typeface="Roboto"/>
              </a:rPr>
              <a:t>A análise fica isolada numa interface. Trocar por um LLM open source é trocar uma peça.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19200" y="9309735"/>
            <a:ext cx="39243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7A78"/>
                </a:solidFill>
                <a:latin typeface="Roboto"/>
                <a:ea typeface="Roboto"/>
                <a:cs typeface="Roboto"/>
                <a:sym typeface="Robot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E3A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E3A39">
                    <a:alpha val="100000"/>
                  </a:srgbClr>
                </a:gs>
                <a:gs pos="70000">
                  <a:srgbClr val="165857">
                    <a:alpha val="100000"/>
                  </a:srgbClr>
                </a:gs>
                <a:gs pos="100000">
                  <a:srgbClr val="1C6E6C">
                    <a:alpha val="100000"/>
                  </a:srgbClr>
                </a:gs>
              </a:gsLst>
              <a:lin ang="2700000"/>
            </a:gra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19200" y="1171575"/>
            <a:ext cx="1632508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 spc="225">
                <a:solidFill>
                  <a:srgbClr val="02C8BB"/>
                </a:solidFill>
                <a:latin typeface="Roboto Bold"/>
                <a:ea typeface="Roboto Bold"/>
                <a:cs typeface="Roboto Bold"/>
                <a:sym typeface="Roboto Bold"/>
              </a:rPr>
              <a:t>DEPOIS DO HACKATHON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1792605"/>
            <a:ext cx="16325088" cy="7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true">
                <a:solidFill>
                  <a:srgbClr val="F4FAF9"/>
                </a:solidFill>
                <a:latin typeface="Roboto Bold"/>
                <a:ea typeface="Roboto Bold"/>
                <a:cs typeface="Roboto Bold"/>
                <a:sym typeface="Roboto Bold"/>
              </a:rPr>
              <a:t>Do MVP para a rede.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19200" y="3032760"/>
            <a:ext cx="15849600" cy="57150"/>
            <a:chOff x="0" y="0"/>
            <a:chExt cx="21132800" cy="76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132800" cy="76200"/>
            </a:xfrm>
            <a:custGeom>
              <a:avLst/>
              <a:gdLst/>
              <a:ahLst/>
              <a:cxnLst/>
              <a:rect r="r" b="b" t="t" l="l"/>
              <a:pathLst>
                <a:path h="76200" w="21132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21094700" y="0"/>
                  </a:lnTo>
                  <a:cubicBezTo>
                    <a:pt x="21115782" y="0"/>
                    <a:pt x="21132800" y="17018"/>
                    <a:pt x="21132800" y="38100"/>
                  </a:cubicBezTo>
                  <a:cubicBezTo>
                    <a:pt x="21132800" y="59182"/>
                    <a:pt x="21115782" y="76200"/>
                    <a:pt x="21094700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C8BB">
                    <a:alpha val="100000"/>
                  </a:srgbClr>
                </a:gs>
                <a:gs pos="100000">
                  <a:srgbClr val="5FB3AC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19200" y="3575685"/>
            <a:ext cx="5180076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4FAF9"/>
                </a:solidFill>
                <a:latin typeface="Roboto Bold"/>
                <a:ea typeface="Roboto Bold"/>
                <a:cs typeface="Roboto Bold"/>
                <a:sym typeface="Roboto Bold"/>
              </a:rPr>
              <a:t>Piloto seguro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9200" y="4063365"/>
            <a:ext cx="5180076" cy="120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DCEFEC"/>
                </a:solidFill>
                <a:latin typeface="Roboto"/>
                <a:ea typeface="Roboto"/>
                <a:cs typeface="Roboto"/>
                <a:sym typeface="Roboto"/>
              </a:rPr>
              <a:t>Um escritório XP usando de verdade, ligado às transcrições que já existem. Máscara de CPF e conta.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29400" y="3575685"/>
            <a:ext cx="5180076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4FAF9"/>
                </a:solidFill>
                <a:latin typeface="Roboto Bold"/>
                <a:ea typeface="Roboto Bold"/>
                <a:cs typeface="Roboto Bold"/>
                <a:sym typeface="Roboto Bold"/>
              </a:rPr>
              <a:t>LLM open source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29400" y="4063365"/>
            <a:ext cx="5180076" cy="120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DCEFEC"/>
                </a:solidFill>
                <a:latin typeface="Roboto"/>
                <a:ea typeface="Roboto"/>
                <a:cs typeface="Roboto"/>
                <a:sym typeface="Roboto"/>
              </a:rPr>
              <a:t>Modelo rodando na infraestrutura da XP: o dado não sai de casa e o custo por análise cai.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39600" y="3575685"/>
            <a:ext cx="5180076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4FAF9"/>
                </a:solidFill>
                <a:latin typeface="Roboto Bold"/>
                <a:ea typeface="Roboto Bold"/>
                <a:cs typeface="Roboto Bold"/>
                <a:sym typeface="Roboto Bold"/>
              </a:rPr>
              <a:t>Escala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39600" y="4063365"/>
            <a:ext cx="5180076" cy="120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DCEFEC"/>
                </a:solidFill>
                <a:latin typeface="Roboto"/>
                <a:ea typeface="Roboto"/>
                <a:cs typeface="Roboto"/>
                <a:sym typeface="Roboto"/>
              </a:rPr>
              <a:t>App no celular para reuniões presenciais. Alertas proativos de datas e eventos. Expansão na rede.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19200" y="7738110"/>
            <a:ext cx="15849600" cy="1188720"/>
            <a:chOff x="0" y="0"/>
            <a:chExt cx="21132800" cy="15849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132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1328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20878800" y="0"/>
                  </a:lnTo>
                  <a:cubicBezTo>
                    <a:pt x="21019136" y="0"/>
                    <a:pt x="21132800" y="113665"/>
                    <a:pt x="21132800" y="254000"/>
                  </a:cubicBezTo>
                  <a:lnTo>
                    <a:pt x="21132800" y="1330960"/>
                  </a:lnTo>
                  <a:cubicBezTo>
                    <a:pt x="21132800" y="1471295"/>
                    <a:pt x="21019136" y="1584960"/>
                    <a:pt x="20878800" y="1584960"/>
                  </a:cubicBezTo>
                  <a:lnTo>
                    <a:pt x="254000" y="1584960"/>
                  </a:lnTo>
                  <a:cubicBezTo>
                    <a:pt x="113665" y="1584960"/>
                    <a:pt x="0" y="1471295"/>
                    <a:pt x="0" y="1330960"/>
                  </a:cubicBezTo>
                  <a:close/>
                </a:path>
              </a:pathLst>
            </a:custGeom>
            <a:solidFill>
              <a:srgbClr val="02C8BB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76400" y="8071485"/>
            <a:ext cx="12678556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0E2A29"/>
                </a:solidFill>
                <a:latin typeface="Roboto Bold"/>
                <a:ea typeface="Roboto Bold"/>
                <a:cs typeface="Roboto Bold"/>
                <a:sym typeface="Roboto Bold"/>
              </a:rPr>
              <a:t>Cliente lembrado é cliente que fica.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19200" y="5575935"/>
            <a:ext cx="15849600" cy="57150"/>
            <a:chOff x="0" y="0"/>
            <a:chExt cx="21132800" cy="76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132800" cy="76200"/>
            </a:xfrm>
            <a:custGeom>
              <a:avLst/>
              <a:gdLst/>
              <a:ahLst/>
              <a:cxnLst/>
              <a:rect r="r" b="b" t="t" l="l"/>
              <a:pathLst>
                <a:path h="76200" w="21132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21094700" y="0"/>
                  </a:lnTo>
                  <a:cubicBezTo>
                    <a:pt x="21115782" y="0"/>
                    <a:pt x="21132800" y="17018"/>
                    <a:pt x="21132800" y="38100"/>
                  </a:cubicBezTo>
                  <a:cubicBezTo>
                    <a:pt x="21132800" y="59182"/>
                    <a:pt x="21115782" y="76200"/>
                    <a:pt x="21094700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C8BB">
                    <a:alpha val="100000"/>
                  </a:srgbClr>
                </a:gs>
                <a:gs pos="100000">
                  <a:srgbClr val="5FB3AC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63864" y="6118860"/>
            <a:ext cx="851788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Integração Open Finance e Análises Financeiras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Uso de Chat Gamificado para primeira interação para novos clientes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Estimulo de agendamento de reunião com assessor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71575"/>
            <a:ext cx="871919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 spc="225">
                <a:solidFill>
                  <a:srgbClr val="0B8F86"/>
                </a:solidFill>
                <a:latin typeface="Roboto Bold"/>
                <a:ea typeface="Roboto Bold"/>
                <a:cs typeface="Roboto Bold"/>
                <a:sym typeface="Roboto Bold"/>
              </a:rPr>
              <a:t>A EQUIPE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792605"/>
            <a:ext cx="8172009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Quem constrói.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940664" y="3657684"/>
            <a:ext cx="3234233" cy="4497763"/>
            <a:chOff x="0" y="0"/>
            <a:chExt cx="4902200" cy="6817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02200" cy="6817360"/>
            </a:xfrm>
            <a:custGeom>
              <a:avLst/>
              <a:gdLst/>
              <a:ahLst/>
              <a:cxnLst/>
              <a:rect r="r" b="b" t="t" l="l"/>
              <a:pathLst>
                <a:path h="6817360" w="4902200">
                  <a:moveTo>
                    <a:pt x="0" y="242570"/>
                  </a:moveTo>
                  <a:cubicBezTo>
                    <a:pt x="0" y="108585"/>
                    <a:pt x="108585" y="0"/>
                    <a:pt x="242570" y="0"/>
                  </a:cubicBezTo>
                  <a:lnTo>
                    <a:pt x="4659630" y="0"/>
                  </a:lnTo>
                  <a:cubicBezTo>
                    <a:pt x="4793615" y="0"/>
                    <a:pt x="4902200" y="108585"/>
                    <a:pt x="4902200" y="242570"/>
                  </a:cubicBezTo>
                  <a:lnTo>
                    <a:pt x="4902200" y="6574790"/>
                  </a:lnTo>
                  <a:cubicBezTo>
                    <a:pt x="4902200" y="6708775"/>
                    <a:pt x="4793615" y="6817360"/>
                    <a:pt x="4659630" y="6817360"/>
                  </a:cubicBezTo>
                  <a:lnTo>
                    <a:pt x="242570" y="6817360"/>
                  </a:lnTo>
                  <a:cubicBezTo>
                    <a:pt x="108585" y="6817360"/>
                    <a:pt x="0" y="6708775"/>
                    <a:pt x="0" y="657479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2E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5719896" y="4073275"/>
            <a:ext cx="1675769" cy="1675769"/>
            <a:chOff x="0" y="0"/>
            <a:chExt cx="2540000" cy="254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4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2540000">
                  <a:moveTo>
                    <a:pt x="0" y="1270000"/>
                  </a:moveTo>
                  <a:cubicBezTo>
                    <a:pt x="0" y="568579"/>
                    <a:pt x="568579" y="0"/>
                    <a:pt x="1270000" y="0"/>
                  </a:cubicBezTo>
                  <a:cubicBezTo>
                    <a:pt x="1971421" y="0"/>
                    <a:pt x="2540000" y="568579"/>
                    <a:pt x="2540000" y="1270000"/>
                  </a:cubicBezTo>
                  <a:cubicBezTo>
                    <a:pt x="2540000" y="1971421"/>
                    <a:pt x="1971421" y="2540000"/>
                    <a:pt x="1270000" y="2540000"/>
                  </a:cubicBezTo>
                  <a:cubicBezTo>
                    <a:pt x="568579" y="2540000"/>
                    <a:pt x="0" y="1971421"/>
                    <a:pt x="0" y="1270000"/>
                  </a:cubicBezTo>
                  <a:close/>
                </a:path>
              </a:pathLst>
            </a:custGeom>
            <a:solidFill>
              <a:srgbClr val="D3E2E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2540000" cy="2644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559"/>
                </a:lnSpc>
              </a:pPr>
              <a:r>
                <a:rPr lang="en-US" sz="5400" b="true">
                  <a:solidFill>
                    <a:srgbClr val="165857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PB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995859" y="6066293"/>
            <a:ext cx="3123842" cy="36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0"/>
              </a:lnSpc>
            </a:pPr>
            <a:r>
              <a:rPr lang="en-US" sz="2375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Pedro Bahiense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76395" y="5309368"/>
            <a:ext cx="780866" cy="362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6"/>
              </a:lnSpc>
            </a:pPr>
            <a:r>
              <a:rPr lang="en-US" sz="1583" b="true">
                <a:solidFill>
                  <a:srgbClr val="0B8F86"/>
                </a:solidFill>
                <a:latin typeface="Roboto Bold"/>
                <a:ea typeface="Roboto Bold"/>
                <a:cs typeface="Roboto Bold"/>
                <a:sym typeface="Roboto Bold"/>
              </a:rPr>
              <a:t>[Cargo]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182125" y="6847644"/>
            <a:ext cx="2751310" cy="283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6"/>
              </a:lnSpc>
            </a:pPr>
            <a:r>
              <a:rPr lang="en-US" sz="1583">
                <a:solidFill>
                  <a:srgbClr val="4A5856"/>
                </a:solidFill>
                <a:latin typeface="Roboto"/>
                <a:ea typeface="Roboto"/>
                <a:cs typeface="Roboto"/>
                <a:sym typeface="Roboto"/>
              </a:rPr>
              <a:t>Ciência da Computação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526639" y="3647630"/>
            <a:ext cx="3234233" cy="4497763"/>
            <a:chOff x="0" y="0"/>
            <a:chExt cx="4902200" cy="6817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02200" cy="6817360"/>
            </a:xfrm>
            <a:custGeom>
              <a:avLst/>
              <a:gdLst/>
              <a:ahLst/>
              <a:cxnLst/>
              <a:rect r="r" b="b" t="t" l="l"/>
              <a:pathLst>
                <a:path h="6817360" w="4902200">
                  <a:moveTo>
                    <a:pt x="0" y="242570"/>
                  </a:moveTo>
                  <a:cubicBezTo>
                    <a:pt x="0" y="108585"/>
                    <a:pt x="108585" y="0"/>
                    <a:pt x="242570" y="0"/>
                  </a:cubicBezTo>
                  <a:lnTo>
                    <a:pt x="4659630" y="0"/>
                  </a:lnTo>
                  <a:cubicBezTo>
                    <a:pt x="4793615" y="0"/>
                    <a:pt x="4902200" y="108585"/>
                    <a:pt x="4902200" y="242570"/>
                  </a:cubicBezTo>
                  <a:lnTo>
                    <a:pt x="4902200" y="6574790"/>
                  </a:lnTo>
                  <a:cubicBezTo>
                    <a:pt x="4902200" y="6708775"/>
                    <a:pt x="4793615" y="6817360"/>
                    <a:pt x="4659630" y="6817360"/>
                  </a:cubicBezTo>
                  <a:lnTo>
                    <a:pt x="242570" y="6817360"/>
                  </a:lnTo>
                  <a:cubicBezTo>
                    <a:pt x="108585" y="6817360"/>
                    <a:pt x="0" y="6708775"/>
                    <a:pt x="0" y="657479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2E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305871" y="4063220"/>
            <a:ext cx="1675769" cy="1675769"/>
            <a:chOff x="0" y="0"/>
            <a:chExt cx="2540000" cy="254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2540000">
                  <a:moveTo>
                    <a:pt x="0" y="1270000"/>
                  </a:moveTo>
                  <a:cubicBezTo>
                    <a:pt x="0" y="568579"/>
                    <a:pt x="568579" y="0"/>
                    <a:pt x="1270000" y="0"/>
                  </a:cubicBezTo>
                  <a:cubicBezTo>
                    <a:pt x="1971421" y="0"/>
                    <a:pt x="2540000" y="568579"/>
                    <a:pt x="2540000" y="1270000"/>
                  </a:cubicBezTo>
                  <a:cubicBezTo>
                    <a:pt x="2540000" y="1971421"/>
                    <a:pt x="1971421" y="2540000"/>
                    <a:pt x="1270000" y="2540000"/>
                  </a:cubicBezTo>
                  <a:cubicBezTo>
                    <a:pt x="568579" y="2540000"/>
                    <a:pt x="0" y="1971421"/>
                    <a:pt x="0" y="1270000"/>
                  </a:cubicBezTo>
                  <a:close/>
                </a:path>
              </a:pathLst>
            </a:custGeom>
            <a:solidFill>
              <a:srgbClr val="D3E2E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2540000" cy="2644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559"/>
                </a:lnSpc>
              </a:pPr>
              <a:r>
                <a:rPr lang="en-US" sz="5400" b="true">
                  <a:solidFill>
                    <a:srgbClr val="165857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ER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949210" y="6066293"/>
            <a:ext cx="2631976" cy="36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0"/>
              </a:lnSpc>
            </a:pPr>
            <a:r>
              <a:rPr lang="en-US" sz="2375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Erick Rosdachimo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768100" y="6837590"/>
            <a:ext cx="2751310" cy="56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6"/>
              </a:lnSpc>
            </a:pPr>
            <a:r>
              <a:rPr lang="en-US" sz="1583">
                <a:solidFill>
                  <a:srgbClr val="4A5856"/>
                </a:solidFill>
                <a:latin typeface="Roboto"/>
                <a:ea typeface="Roboto"/>
                <a:cs typeface="Roboto"/>
                <a:sym typeface="Roboto"/>
              </a:rPr>
              <a:t>Análise e Desenvolvimento de Sistemas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233651" y="3647630"/>
            <a:ext cx="3234233" cy="4497763"/>
            <a:chOff x="0" y="0"/>
            <a:chExt cx="4902200" cy="6817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02200" cy="6817360"/>
            </a:xfrm>
            <a:custGeom>
              <a:avLst/>
              <a:gdLst/>
              <a:ahLst/>
              <a:cxnLst/>
              <a:rect r="r" b="b" t="t" l="l"/>
              <a:pathLst>
                <a:path h="6817360" w="4902200">
                  <a:moveTo>
                    <a:pt x="0" y="242570"/>
                  </a:moveTo>
                  <a:cubicBezTo>
                    <a:pt x="0" y="108585"/>
                    <a:pt x="108585" y="0"/>
                    <a:pt x="242570" y="0"/>
                  </a:cubicBezTo>
                  <a:lnTo>
                    <a:pt x="4659630" y="0"/>
                  </a:lnTo>
                  <a:cubicBezTo>
                    <a:pt x="4793615" y="0"/>
                    <a:pt x="4902200" y="108585"/>
                    <a:pt x="4902200" y="242570"/>
                  </a:cubicBezTo>
                  <a:lnTo>
                    <a:pt x="4902200" y="6574790"/>
                  </a:lnTo>
                  <a:cubicBezTo>
                    <a:pt x="4902200" y="6708775"/>
                    <a:pt x="4793615" y="6817360"/>
                    <a:pt x="4659630" y="6817360"/>
                  </a:cubicBezTo>
                  <a:lnTo>
                    <a:pt x="242570" y="6817360"/>
                  </a:lnTo>
                  <a:cubicBezTo>
                    <a:pt x="108585" y="6817360"/>
                    <a:pt x="0" y="6708775"/>
                    <a:pt x="0" y="657479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2E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012884" y="4063220"/>
            <a:ext cx="1675769" cy="1675769"/>
            <a:chOff x="0" y="0"/>
            <a:chExt cx="2540000" cy="254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4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2540000">
                  <a:moveTo>
                    <a:pt x="0" y="1270000"/>
                  </a:moveTo>
                  <a:cubicBezTo>
                    <a:pt x="0" y="568579"/>
                    <a:pt x="568579" y="0"/>
                    <a:pt x="1270000" y="0"/>
                  </a:cubicBezTo>
                  <a:cubicBezTo>
                    <a:pt x="1971421" y="0"/>
                    <a:pt x="2540000" y="568579"/>
                    <a:pt x="2540000" y="1270000"/>
                  </a:cubicBezTo>
                  <a:cubicBezTo>
                    <a:pt x="2540000" y="1971421"/>
                    <a:pt x="1971421" y="2540000"/>
                    <a:pt x="1270000" y="2540000"/>
                  </a:cubicBezTo>
                  <a:cubicBezTo>
                    <a:pt x="568579" y="2540000"/>
                    <a:pt x="0" y="1971421"/>
                    <a:pt x="0" y="1270000"/>
                  </a:cubicBezTo>
                  <a:close/>
                </a:path>
              </a:pathLst>
            </a:custGeom>
            <a:solidFill>
              <a:srgbClr val="D3E2E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04775"/>
              <a:ext cx="2540000" cy="2644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559"/>
                </a:lnSpc>
              </a:pPr>
              <a:r>
                <a:rPr lang="en-US" sz="5400" b="true">
                  <a:solidFill>
                    <a:srgbClr val="165857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NB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1661303" y="6066293"/>
            <a:ext cx="2565120" cy="36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0"/>
              </a:lnSpc>
            </a:pPr>
            <a:r>
              <a:rPr lang="en-US" sz="2375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Nathalia De Bellis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75113" y="6837590"/>
            <a:ext cx="2751310" cy="56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6"/>
              </a:lnSpc>
            </a:pPr>
            <a:r>
              <a:rPr lang="en-US" sz="1583">
                <a:solidFill>
                  <a:srgbClr val="4A5856"/>
                </a:solidFill>
                <a:latin typeface="Roboto"/>
                <a:ea typeface="Roboto"/>
                <a:cs typeface="Roboto"/>
                <a:sym typeface="Roboto"/>
              </a:rPr>
              <a:t>Análise e Desenvolvimento de Sistemas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3819626" y="3647630"/>
            <a:ext cx="3234233" cy="4497763"/>
            <a:chOff x="0" y="0"/>
            <a:chExt cx="4902200" cy="6817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02200" cy="6817360"/>
            </a:xfrm>
            <a:custGeom>
              <a:avLst/>
              <a:gdLst/>
              <a:ahLst/>
              <a:cxnLst/>
              <a:rect r="r" b="b" t="t" l="l"/>
              <a:pathLst>
                <a:path h="6817360" w="4902200">
                  <a:moveTo>
                    <a:pt x="0" y="242570"/>
                  </a:moveTo>
                  <a:cubicBezTo>
                    <a:pt x="0" y="108585"/>
                    <a:pt x="108585" y="0"/>
                    <a:pt x="242570" y="0"/>
                  </a:cubicBezTo>
                  <a:lnTo>
                    <a:pt x="4659630" y="0"/>
                  </a:lnTo>
                  <a:cubicBezTo>
                    <a:pt x="4793615" y="0"/>
                    <a:pt x="4902200" y="108585"/>
                    <a:pt x="4902200" y="242570"/>
                  </a:cubicBezTo>
                  <a:lnTo>
                    <a:pt x="4902200" y="6574790"/>
                  </a:lnTo>
                  <a:cubicBezTo>
                    <a:pt x="4902200" y="6708775"/>
                    <a:pt x="4793615" y="6817360"/>
                    <a:pt x="4659630" y="6817360"/>
                  </a:cubicBezTo>
                  <a:lnTo>
                    <a:pt x="242570" y="6817360"/>
                  </a:lnTo>
                  <a:cubicBezTo>
                    <a:pt x="108585" y="6817360"/>
                    <a:pt x="0" y="6708775"/>
                    <a:pt x="0" y="657479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2E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4598859" y="4063220"/>
            <a:ext cx="1675769" cy="1675769"/>
            <a:chOff x="0" y="0"/>
            <a:chExt cx="2540000" cy="2540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4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2540000">
                  <a:moveTo>
                    <a:pt x="0" y="1270000"/>
                  </a:moveTo>
                  <a:cubicBezTo>
                    <a:pt x="0" y="568579"/>
                    <a:pt x="568579" y="0"/>
                    <a:pt x="1270000" y="0"/>
                  </a:cubicBezTo>
                  <a:cubicBezTo>
                    <a:pt x="1971421" y="0"/>
                    <a:pt x="2540000" y="568579"/>
                    <a:pt x="2540000" y="1270000"/>
                  </a:cubicBezTo>
                  <a:cubicBezTo>
                    <a:pt x="2540000" y="1971421"/>
                    <a:pt x="1971421" y="2540000"/>
                    <a:pt x="1270000" y="2540000"/>
                  </a:cubicBezTo>
                  <a:cubicBezTo>
                    <a:pt x="568579" y="2540000"/>
                    <a:pt x="0" y="1971421"/>
                    <a:pt x="0" y="1270000"/>
                  </a:cubicBezTo>
                  <a:close/>
                </a:path>
              </a:pathLst>
            </a:custGeom>
            <a:solidFill>
              <a:srgbClr val="D3E2E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04775"/>
              <a:ext cx="2540000" cy="2644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559"/>
                </a:lnSpc>
              </a:pPr>
              <a:r>
                <a:rPr lang="en-US" sz="5400" b="true">
                  <a:solidFill>
                    <a:srgbClr val="165857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EA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4246947" y="6066293"/>
            <a:ext cx="2201784" cy="36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0"/>
              </a:lnSpc>
            </a:pPr>
            <a:r>
              <a:rPr lang="en-US" sz="2375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Edson Argemon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061088" y="6837590"/>
            <a:ext cx="2751310" cy="283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6"/>
              </a:lnSpc>
            </a:pPr>
            <a:r>
              <a:rPr lang="en-US" sz="1583">
                <a:solidFill>
                  <a:srgbClr val="4A5856"/>
                </a:solidFill>
                <a:latin typeface="Roboto"/>
                <a:ea typeface="Roboto"/>
                <a:cs typeface="Roboto"/>
                <a:sym typeface="Roboto"/>
              </a:rPr>
              <a:t>Engenharia de Software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19200" y="9309735"/>
            <a:ext cx="39243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7A78"/>
                </a:solidFill>
                <a:latin typeface="Roboto"/>
                <a:ea typeface="Roboto"/>
                <a:cs typeface="Roboto"/>
                <a:sym typeface="Roboto"/>
              </a:rPr>
              <a:t>07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13103" y="3647630"/>
            <a:ext cx="3234233" cy="4497763"/>
            <a:chOff x="0" y="0"/>
            <a:chExt cx="4902200" cy="68173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902200" cy="6817360"/>
            </a:xfrm>
            <a:custGeom>
              <a:avLst/>
              <a:gdLst/>
              <a:ahLst/>
              <a:cxnLst/>
              <a:rect r="r" b="b" t="t" l="l"/>
              <a:pathLst>
                <a:path h="6817360" w="4902200">
                  <a:moveTo>
                    <a:pt x="0" y="242570"/>
                  </a:moveTo>
                  <a:cubicBezTo>
                    <a:pt x="0" y="108585"/>
                    <a:pt x="108585" y="0"/>
                    <a:pt x="242570" y="0"/>
                  </a:cubicBezTo>
                  <a:lnTo>
                    <a:pt x="4659630" y="0"/>
                  </a:lnTo>
                  <a:cubicBezTo>
                    <a:pt x="4793615" y="0"/>
                    <a:pt x="4902200" y="108585"/>
                    <a:pt x="4902200" y="242570"/>
                  </a:cubicBezTo>
                  <a:lnTo>
                    <a:pt x="4902200" y="6574790"/>
                  </a:lnTo>
                  <a:cubicBezTo>
                    <a:pt x="4902200" y="6708775"/>
                    <a:pt x="4793615" y="6817360"/>
                    <a:pt x="4659630" y="6817360"/>
                  </a:cubicBezTo>
                  <a:lnTo>
                    <a:pt x="242570" y="6817360"/>
                  </a:lnTo>
                  <a:cubicBezTo>
                    <a:pt x="108585" y="6817360"/>
                    <a:pt x="0" y="6708775"/>
                    <a:pt x="0" y="657479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2E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892335" y="4063220"/>
            <a:ext cx="1675769" cy="1675769"/>
            <a:chOff x="0" y="0"/>
            <a:chExt cx="2540000" cy="2540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54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2540000">
                  <a:moveTo>
                    <a:pt x="0" y="1270000"/>
                  </a:moveTo>
                  <a:cubicBezTo>
                    <a:pt x="0" y="568579"/>
                    <a:pt x="568579" y="0"/>
                    <a:pt x="1270000" y="0"/>
                  </a:cubicBezTo>
                  <a:cubicBezTo>
                    <a:pt x="1971421" y="0"/>
                    <a:pt x="2540000" y="568579"/>
                    <a:pt x="2540000" y="1270000"/>
                  </a:cubicBezTo>
                  <a:cubicBezTo>
                    <a:pt x="2540000" y="1971421"/>
                    <a:pt x="1971421" y="2540000"/>
                    <a:pt x="1270000" y="2540000"/>
                  </a:cubicBezTo>
                  <a:cubicBezTo>
                    <a:pt x="568579" y="2540000"/>
                    <a:pt x="0" y="1971421"/>
                    <a:pt x="0" y="1270000"/>
                  </a:cubicBezTo>
                  <a:close/>
                </a:path>
              </a:pathLst>
            </a:custGeom>
            <a:solidFill>
              <a:srgbClr val="D3E2E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04775"/>
              <a:ext cx="2540000" cy="2644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559"/>
                </a:lnSpc>
              </a:pPr>
              <a:r>
                <a:rPr lang="en-US" sz="5400" b="true">
                  <a:solidFill>
                    <a:srgbClr val="165857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CS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540424" y="6066293"/>
            <a:ext cx="2201784" cy="36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0"/>
              </a:lnSpc>
            </a:pPr>
            <a:r>
              <a:rPr lang="en-US" sz="2375" b="true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Cleiton Silva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54565" y="6837590"/>
            <a:ext cx="2751310" cy="283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6"/>
              </a:lnSpc>
            </a:pPr>
            <a:r>
              <a:rPr lang="en-US" sz="1583">
                <a:solidFill>
                  <a:srgbClr val="4A5856"/>
                </a:solidFill>
                <a:latin typeface="Roboto"/>
                <a:ea typeface="Roboto"/>
                <a:cs typeface="Roboto"/>
                <a:sym typeface="Roboto"/>
              </a:rPr>
              <a:t>Engenharia da Computação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DAHXoTeYmv8</dc:identifier>
  <dcterms:modified xsi:type="dcterms:W3CDTF">2011-08-01T06:04:30Z</dcterms:modified>
  <cp:revision>1</cp:revision>
  <dc:title>Memória de Relacionamento.pptx</dc:title>
</cp:coreProperties>
</file>